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1"/>
  </p:sldMasterIdLst>
  <p:notesMasterIdLst>
    <p:notesMasterId r:id="rId19"/>
  </p:notesMasterIdLst>
  <p:sldIdLst>
    <p:sldId id="256" r:id="rId2"/>
    <p:sldId id="272" r:id="rId3"/>
    <p:sldId id="273"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4"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napToObjects="1">
      <p:cViewPr>
        <p:scale>
          <a:sx n="69" d="100"/>
          <a:sy n="69" d="100"/>
        </p:scale>
        <p:origin x="344" y="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7.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_rels/drawing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7.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D1FBEF-C055-4994-80A3-1F533E04CE59}"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7CF49F4A-EE5F-4920-A261-4CB0F57D0348}">
      <dgm:prSet/>
      <dgm:spPr/>
      <dgm:t>
        <a:bodyPr/>
        <a:lstStyle/>
        <a:p>
          <a:r>
            <a:rPr lang="en-US" dirty="0"/>
            <a:t>Based on the 2025 survey </a:t>
          </a:r>
          <a:r>
            <a:rPr lang="en-US" i="1" dirty="0"/>
            <a:t>“Multi-Agent Coordination Across Diverse Applications.”</a:t>
          </a:r>
          <a:endParaRPr lang="en-US" dirty="0"/>
        </a:p>
      </dgm:t>
    </dgm:pt>
    <dgm:pt modelId="{03B3FD37-1F6E-4BDF-92D8-85126D3EA3F6}" type="parTrans" cxnId="{2B43527D-35B5-4781-8D83-3F7238B9FDEB}">
      <dgm:prSet/>
      <dgm:spPr/>
      <dgm:t>
        <a:bodyPr/>
        <a:lstStyle/>
        <a:p>
          <a:endParaRPr lang="en-US"/>
        </a:p>
      </dgm:t>
    </dgm:pt>
    <dgm:pt modelId="{371E842A-2E46-4795-861F-257134488801}" type="sibTrans" cxnId="{2B43527D-35B5-4781-8D83-3F7238B9FDEB}">
      <dgm:prSet/>
      <dgm:spPr/>
      <dgm:t>
        <a:bodyPr/>
        <a:lstStyle/>
        <a:p>
          <a:endParaRPr lang="en-US"/>
        </a:p>
      </dgm:t>
    </dgm:pt>
    <dgm:pt modelId="{800E7BA3-48B9-4D8B-8EBD-29A5529E83D3}">
      <dgm:prSet/>
      <dgm:spPr/>
      <dgm:t>
        <a:bodyPr/>
        <a:lstStyle/>
        <a:p>
          <a:r>
            <a:rPr lang="en-US"/>
            <a:t>Explores coordination across robots, vehicles, satellites, and LLM-based agents.</a:t>
          </a:r>
        </a:p>
      </dgm:t>
    </dgm:pt>
    <dgm:pt modelId="{E9427071-08F5-460C-8B89-FD1C26638642}" type="parTrans" cxnId="{91C15CD6-A577-4D7E-9613-5B1605A895A0}">
      <dgm:prSet/>
      <dgm:spPr/>
      <dgm:t>
        <a:bodyPr/>
        <a:lstStyle/>
        <a:p>
          <a:endParaRPr lang="en-US"/>
        </a:p>
      </dgm:t>
    </dgm:pt>
    <dgm:pt modelId="{AB6C4D2C-6010-401F-ABDE-B35C97129F1D}" type="sibTrans" cxnId="{91C15CD6-A577-4D7E-9613-5B1605A895A0}">
      <dgm:prSet/>
      <dgm:spPr/>
      <dgm:t>
        <a:bodyPr/>
        <a:lstStyle/>
        <a:p>
          <a:endParaRPr lang="en-US"/>
        </a:p>
      </dgm:t>
    </dgm:pt>
    <dgm:pt modelId="{E7DC78DA-D165-497B-95D0-795FC6189FB2}">
      <dgm:prSet/>
      <dgm:spPr/>
      <dgm:t>
        <a:bodyPr/>
        <a:lstStyle/>
        <a:p>
          <a:r>
            <a:rPr lang="en-US"/>
            <a:t>Provides a </a:t>
          </a:r>
          <a:r>
            <a:rPr lang="en-US" b="1"/>
            <a:t>unified framework</a:t>
          </a:r>
          <a:r>
            <a:rPr lang="en-US"/>
            <a:t> for understanding multi-agent behavior.</a:t>
          </a:r>
        </a:p>
      </dgm:t>
    </dgm:pt>
    <dgm:pt modelId="{2E294917-85A4-4DDD-87E2-64FDACFA434F}" type="parTrans" cxnId="{E4830087-6BB6-4F25-8234-0BE546CA617A}">
      <dgm:prSet/>
      <dgm:spPr/>
      <dgm:t>
        <a:bodyPr/>
        <a:lstStyle/>
        <a:p>
          <a:endParaRPr lang="en-US"/>
        </a:p>
      </dgm:t>
    </dgm:pt>
    <dgm:pt modelId="{4D85B797-3461-4916-B071-46D40CDADC81}" type="sibTrans" cxnId="{E4830087-6BB6-4F25-8234-0BE546CA617A}">
      <dgm:prSet/>
      <dgm:spPr/>
      <dgm:t>
        <a:bodyPr/>
        <a:lstStyle/>
        <a:p>
          <a:endParaRPr lang="en-US"/>
        </a:p>
      </dgm:t>
    </dgm:pt>
    <dgm:pt modelId="{28D9ED48-88C5-464A-BF3A-5EF560E1C1F7}">
      <dgm:prSet/>
      <dgm:spPr/>
      <dgm:t>
        <a:bodyPr/>
        <a:lstStyle/>
        <a:p>
          <a:r>
            <a:rPr lang="en-US"/>
            <a:t>Fits the assignment focus: taxonomy, approaches, architecture, and AI engineering.</a:t>
          </a:r>
        </a:p>
      </dgm:t>
    </dgm:pt>
    <dgm:pt modelId="{50BEE8C8-5F7C-4253-BFC1-F56073FDBCF8}" type="parTrans" cxnId="{76D6009F-8976-48A5-B841-22A7635AD312}">
      <dgm:prSet/>
      <dgm:spPr/>
      <dgm:t>
        <a:bodyPr/>
        <a:lstStyle/>
        <a:p>
          <a:endParaRPr lang="en-US"/>
        </a:p>
      </dgm:t>
    </dgm:pt>
    <dgm:pt modelId="{7E605CE1-A14D-4DD8-8512-80D37FA885EB}" type="sibTrans" cxnId="{76D6009F-8976-48A5-B841-22A7635AD312}">
      <dgm:prSet/>
      <dgm:spPr/>
      <dgm:t>
        <a:bodyPr/>
        <a:lstStyle/>
        <a:p>
          <a:endParaRPr lang="en-US"/>
        </a:p>
      </dgm:t>
    </dgm:pt>
    <dgm:pt modelId="{B40D20AD-9FA7-4099-9375-F3D6F98DEB21}">
      <dgm:prSet/>
      <dgm:spPr/>
      <dgm:t>
        <a:bodyPr/>
        <a:lstStyle/>
        <a:p>
          <a:r>
            <a:rPr lang="en-US"/>
            <a:t>Bridges classical multi-agent systems with </a:t>
          </a:r>
          <a:r>
            <a:rPr lang="en-US" b="1"/>
            <a:t>modern generative AI and LLM agents</a:t>
          </a:r>
          <a:r>
            <a:rPr lang="en-US"/>
            <a:t>.</a:t>
          </a:r>
        </a:p>
      </dgm:t>
    </dgm:pt>
    <dgm:pt modelId="{31F08556-0305-48AD-BE71-3800224F83FD}" type="parTrans" cxnId="{3A8DB371-0996-4477-9D76-DCC29C1B5442}">
      <dgm:prSet/>
      <dgm:spPr/>
      <dgm:t>
        <a:bodyPr/>
        <a:lstStyle/>
        <a:p>
          <a:endParaRPr lang="en-US"/>
        </a:p>
      </dgm:t>
    </dgm:pt>
    <dgm:pt modelId="{7F496E4C-AB6D-4A4F-89AC-C61A12EDA54B}" type="sibTrans" cxnId="{3A8DB371-0996-4477-9D76-DCC29C1B5442}">
      <dgm:prSet/>
      <dgm:spPr/>
      <dgm:t>
        <a:bodyPr/>
        <a:lstStyle/>
        <a:p>
          <a:endParaRPr lang="en-US"/>
        </a:p>
      </dgm:t>
    </dgm:pt>
    <dgm:pt modelId="{6FBE0DEA-2E17-4250-8BAC-3E6337536EFB}" type="pres">
      <dgm:prSet presAssocID="{2DD1FBEF-C055-4994-80A3-1F533E04CE59}" presName="linear" presStyleCnt="0">
        <dgm:presLayoutVars>
          <dgm:animLvl val="lvl"/>
          <dgm:resizeHandles val="exact"/>
        </dgm:presLayoutVars>
      </dgm:prSet>
      <dgm:spPr/>
    </dgm:pt>
    <dgm:pt modelId="{1926EA46-A34D-45F3-9380-BA6B23A10248}" type="pres">
      <dgm:prSet presAssocID="{7CF49F4A-EE5F-4920-A261-4CB0F57D0348}" presName="parentText" presStyleLbl="node1" presStyleIdx="0" presStyleCnt="5">
        <dgm:presLayoutVars>
          <dgm:chMax val="0"/>
          <dgm:bulletEnabled val="1"/>
        </dgm:presLayoutVars>
      </dgm:prSet>
      <dgm:spPr/>
    </dgm:pt>
    <dgm:pt modelId="{6A46B3C4-2852-4A3E-9AC8-A942A0A86278}" type="pres">
      <dgm:prSet presAssocID="{371E842A-2E46-4795-861F-257134488801}" presName="spacer" presStyleCnt="0"/>
      <dgm:spPr/>
    </dgm:pt>
    <dgm:pt modelId="{7A65FD41-1B44-407C-B732-CCD297BB0969}" type="pres">
      <dgm:prSet presAssocID="{800E7BA3-48B9-4D8B-8EBD-29A5529E83D3}" presName="parentText" presStyleLbl="node1" presStyleIdx="1" presStyleCnt="5">
        <dgm:presLayoutVars>
          <dgm:chMax val="0"/>
          <dgm:bulletEnabled val="1"/>
        </dgm:presLayoutVars>
      </dgm:prSet>
      <dgm:spPr/>
    </dgm:pt>
    <dgm:pt modelId="{F8F0AF1B-8219-4AF9-892F-F886B9B833B0}" type="pres">
      <dgm:prSet presAssocID="{AB6C4D2C-6010-401F-ABDE-B35C97129F1D}" presName="spacer" presStyleCnt="0"/>
      <dgm:spPr/>
    </dgm:pt>
    <dgm:pt modelId="{39969789-3375-4C5C-94C9-87FF3DD66B17}" type="pres">
      <dgm:prSet presAssocID="{E7DC78DA-D165-497B-95D0-795FC6189FB2}" presName="parentText" presStyleLbl="node1" presStyleIdx="2" presStyleCnt="5">
        <dgm:presLayoutVars>
          <dgm:chMax val="0"/>
          <dgm:bulletEnabled val="1"/>
        </dgm:presLayoutVars>
      </dgm:prSet>
      <dgm:spPr/>
    </dgm:pt>
    <dgm:pt modelId="{721698E2-EC5A-4F1B-8655-B92200A6FEDE}" type="pres">
      <dgm:prSet presAssocID="{4D85B797-3461-4916-B071-46D40CDADC81}" presName="spacer" presStyleCnt="0"/>
      <dgm:spPr/>
    </dgm:pt>
    <dgm:pt modelId="{C6DB3EE5-1838-418A-9487-7B203794C30D}" type="pres">
      <dgm:prSet presAssocID="{28D9ED48-88C5-464A-BF3A-5EF560E1C1F7}" presName="parentText" presStyleLbl="node1" presStyleIdx="3" presStyleCnt="5">
        <dgm:presLayoutVars>
          <dgm:chMax val="0"/>
          <dgm:bulletEnabled val="1"/>
        </dgm:presLayoutVars>
      </dgm:prSet>
      <dgm:spPr/>
    </dgm:pt>
    <dgm:pt modelId="{75F30D1B-A681-4AB1-B802-61A25070219D}" type="pres">
      <dgm:prSet presAssocID="{7E605CE1-A14D-4DD8-8512-80D37FA885EB}" presName="spacer" presStyleCnt="0"/>
      <dgm:spPr/>
    </dgm:pt>
    <dgm:pt modelId="{5F8CF681-6248-4D37-9751-B38885AD2121}" type="pres">
      <dgm:prSet presAssocID="{B40D20AD-9FA7-4099-9375-F3D6F98DEB21}" presName="parentText" presStyleLbl="node1" presStyleIdx="4" presStyleCnt="5">
        <dgm:presLayoutVars>
          <dgm:chMax val="0"/>
          <dgm:bulletEnabled val="1"/>
        </dgm:presLayoutVars>
      </dgm:prSet>
      <dgm:spPr/>
    </dgm:pt>
  </dgm:ptLst>
  <dgm:cxnLst>
    <dgm:cxn modelId="{35F23B01-2DBB-40EB-BB5F-E4C2E59E6B1C}" type="presOf" srcId="{B40D20AD-9FA7-4099-9375-F3D6F98DEB21}" destId="{5F8CF681-6248-4D37-9751-B38885AD2121}" srcOrd="0" destOrd="0" presId="urn:microsoft.com/office/officeart/2005/8/layout/vList2"/>
    <dgm:cxn modelId="{E5A38A10-2F81-4BD6-8F52-B38A8932CB07}" type="presOf" srcId="{800E7BA3-48B9-4D8B-8EBD-29A5529E83D3}" destId="{7A65FD41-1B44-407C-B732-CCD297BB0969}" srcOrd="0" destOrd="0" presId="urn:microsoft.com/office/officeart/2005/8/layout/vList2"/>
    <dgm:cxn modelId="{3A8DB371-0996-4477-9D76-DCC29C1B5442}" srcId="{2DD1FBEF-C055-4994-80A3-1F533E04CE59}" destId="{B40D20AD-9FA7-4099-9375-F3D6F98DEB21}" srcOrd="4" destOrd="0" parTransId="{31F08556-0305-48AD-BE71-3800224F83FD}" sibTransId="{7F496E4C-AB6D-4A4F-89AC-C61A12EDA54B}"/>
    <dgm:cxn modelId="{76F3A972-DD92-4478-9FBC-9A8DFC973393}" type="presOf" srcId="{28D9ED48-88C5-464A-BF3A-5EF560E1C1F7}" destId="{C6DB3EE5-1838-418A-9487-7B203794C30D}" srcOrd="0" destOrd="0" presId="urn:microsoft.com/office/officeart/2005/8/layout/vList2"/>
    <dgm:cxn modelId="{A59E7674-BA6D-4198-91C8-21F4F7293D56}" type="presOf" srcId="{E7DC78DA-D165-497B-95D0-795FC6189FB2}" destId="{39969789-3375-4C5C-94C9-87FF3DD66B17}" srcOrd="0" destOrd="0" presId="urn:microsoft.com/office/officeart/2005/8/layout/vList2"/>
    <dgm:cxn modelId="{2B43527D-35B5-4781-8D83-3F7238B9FDEB}" srcId="{2DD1FBEF-C055-4994-80A3-1F533E04CE59}" destId="{7CF49F4A-EE5F-4920-A261-4CB0F57D0348}" srcOrd="0" destOrd="0" parTransId="{03B3FD37-1F6E-4BDF-92D8-85126D3EA3F6}" sibTransId="{371E842A-2E46-4795-861F-257134488801}"/>
    <dgm:cxn modelId="{E4830087-6BB6-4F25-8234-0BE546CA617A}" srcId="{2DD1FBEF-C055-4994-80A3-1F533E04CE59}" destId="{E7DC78DA-D165-497B-95D0-795FC6189FB2}" srcOrd="2" destOrd="0" parTransId="{2E294917-85A4-4DDD-87E2-64FDACFA434F}" sibTransId="{4D85B797-3461-4916-B071-46D40CDADC81}"/>
    <dgm:cxn modelId="{76D6009F-8976-48A5-B841-22A7635AD312}" srcId="{2DD1FBEF-C055-4994-80A3-1F533E04CE59}" destId="{28D9ED48-88C5-464A-BF3A-5EF560E1C1F7}" srcOrd="3" destOrd="0" parTransId="{50BEE8C8-5F7C-4253-BFC1-F56073FDBCF8}" sibTransId="{7E605CE1-A14D-4DD8-8512-80D37FA885EB}"/>
    <dgm:cxn modelId="{91C15CD6-A577-4D7E-9613-5B1605A895A0}" srcId="{2DD1FBEF-C055-4994-80A3-1F533E04CE59}" destId="{800E7BA3-48B9-4D8B-8EBD-29A5529E83D3}" srcOrd="1" destOrd="0" parTransId="{E9427071-08F5-460C-8B89-FD1C26638642}" sibTransId="{AB6C4D2C-6010-401F-ABDE-B35C97129F1D}"/>
    <dgm:cxn modelId="{AAA5D3F3-5AE9-4EBE-A687-74E01FC6C5A5}" type="presOf" srcId="{7CF49F4A-EE5F-4920-A261-4CB0F57D0348}" destId="{1926EA46-A34D-45F3-9380-BA6B23A10248}" srcOrd="0" destOrd="0" presId="urn:microsoft.com/office/officeart/2005/8/layout/vList2"/>
    <dgm:cxn modelId="{4AEFBAF5-B67B-4E85-B88E-5C1DB45D4A75}" type="presOf" srcId="{2DD1FBEF-C055-4994-80A3-1F533E04CE59}" destId="{6FBE0DEA-2E17-4250-8BAC-3E6337536EFB}" srcOrd="0" destOrd="0" presId="urn:microsoft.com/office/officeart/2005/8/layout/vList2"/>
    <dgm:cxn modelId="{52375844-E059-4A10-950A-2F93C6E00AA2}" type="presParOf" srcId="{6FBE0DEA-2E17-4250-8BAC-3E6337536EFB}" destId="{1926EA46-A34D-45F3-9380-BA6B23A10248}" srcOrd="0" destOrd="0" presId="urn:microsoft.com/office/officeart/2005/8/layout/vList2"/>
    <dgm:cxn modelId="{DFDCA8D1-4113-457B-BDE4-D9A90674EC13}" type="presParOf" srcId="{6FBE0DEA-2E17-4250-8BAC-3E6337536EFB}" destId="{6A46B3C4-2852-4A3E-9AC8-A942A0A86278}" srcOrd="1" destOrd="0" presId="urn:microsoft.com/office/officeart/2005/8/layout/vList2"/>
    <dgm:cxn modelId="{7EA6E916-7495-4F19-B8AB-CFD95966A5A3}" type="presParOf" srcId="{6FBE0DEA-2E17-4250-8BAC-3E6337536EFB}" destId="{7A65FD41-1B44-407C-B732-CCD297BB0969}" srcOrd="2" destOrd="0" presId="urn:microsoft.com/office/officeart/2005/8/layout/vList2"/>
    <dgm:cxn modelId="{C2425769-141B-41BC-82A2-5FF1265ADCAB}" type="presParOf" srcId="{6FBE0DEA-2E17-4250-8BAC-3E6337536EFB}" destId="{F8F0AF1B-8219-4AF9-892F-F886B9B833B0}" srcOrd="3" destOrd="0" presId="urn:microsoft.com/office/officeart/2005/8/layout/vList2"/>
    <dgm:cxn modelId="{69CD3035-1052-4A66-AD46-6FC497FC7E99}" type="presParOf" srcId="{6FBE0DEA-2E17-4250-8BAC-3E6337536EFB}" destId="{39969789-3375-4C5C-94C9-87FF3DD66B17}" srcOrd="4" destOrd="0" presId="urn:microsoft.com/office/officeart/2005/8/layout/vList2"/>
    <dgm:cxn modelId="{4897FB04-94A7-4B52-96F4-C6101C973C90}" type="presParOf" srcId="{6FBE0DEA-2E17-4250-8BAC-3E6337536EFB}" destId="{721698E2-EC5A-4F1B-8655-B92200A6FEDE}" srcOrd="5" destOrd="0" presId="urn:microsoft.com/office/officeart/2005/8/layout/vList2"/>
    <dgm:cxn modelId="{C2D1EFA8-954C-4CB0-AB20-79A59A1523ED}" type="presParOf" srcId="{6FBE0DEA-2E17-4250-8BAC-3E6337536EFB}" destId="{C6DB3EE5-1838-418A-9487-7B203794C30D}" srcOrd="6" destOrd="0" presId="urn:microsoft.com/office/officeart/2005/8/layout/vList2"/>
    <dgm:cxn modelId="{B3C562AE-88D3-477E-90A5-E2FE7F11B1E7}" type="presParOf" srcId="{6FBE0DEA-2E17-4250-8BAC-3E6337536EFB}" destId="{75F30D1B-A681-4AB1-B802-61A25070219D}" srcOrd="7" destOrd="0" presId="urn:microsoft.com/office/officeart/2005/8/layout/vList2"/>
    <dgm:cxn modelId="{7694A4D9-497D-4E53-B489-20EA56900F25}" type="presParOf" srcId="{6FBE0DEA-2E17-4250-8BAC-3E6337536EFB}" destId="{5F8CF681-6248-4D37-9751-B38885AD2121}"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5DCBB5F-AD09-48AC-B397-A12F4F823BC0}"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F068C031-AB39-469B-9AA7-31440347FA1A}">
      <dgm:prSet/>
      <dgm:spPr/>
      <dgm:t>
        <a:bodyPr/>
        <a:lstStyle/>
        <a:p>
          <a:r>
            <a:rPr lang="en-US" b="0" i="0" baseline="0"/>
            <a:t>Coordination refers to how multiple agents manage their </a:t>
          </a:r>
          <a:r>
            <a:rPr lang="en-US" b="1" i="0" baseline="0"/>
            <a:t>dependencies</a:t>
          </a:r>
          <a:r>
            <a:rPr lang="en-US" b="0" i="0" baseline="0"/>
            <a:t> so the whole system behaves smoothly. Each agent has limited local information, but their actions influence others—for example, if one robot blocks a hallway, the rest are affected.</a:t>
          </a:r>
          <a:endParaRPr lang="en-US"/>
        </a:p>
      </dgm:t>
    </dgm:pt>
    <dgm:pt modelId="{351F1A5E-7685-4293-95DF-BD0425BA96C0}" type="parTrans" cxnId="{2E3369C4-ADE6-4B73-9577-DE657D688B68}">
      <dgm:prSet/>
      <dgm:spPr/>
      <dgm:t>
        <a:bodyPr/>
        <a:lstStyle/>
        <a:p>
          <a:endParaRPr lang="en-US"/>
        </a:p>
      </dgm:t>
    </dgm:pt>
    <dgm:pt modelId="{300B2D38-ECF3-4194-BB6C-9DA18A322B18}" type="sibTrans" cxnId="{2E3369C4-ADE6-4B73-9577-DE657D688B68}">
      <dgm:prSet/>
      <dgm:spPr/>
      <dgm:t>
        <a:bodyPr/>
        <a:lstStyle/>
        <a:p>
          <a:endParaRPr lang="en-US"/>
        </a:p>
      </dgm:t>
    </dgm:pt>
    <dgm:pt modelId="{2C271D88-FC64-438C-953C-6C9414A70EAE}">
      <dgm:prSet/>
      <dgm:spPr/>
      <dgm:t>
        <a:bodyPr/>
        <a:lstStyle/>
        <a:p>
          <a:r>
            <a:rPr lang="en-US" b="0" i="0" baseline="0"/>
            <a:t>The survey defines coordination as agents interacting and making decisions to improve </a:t>
          </a:r>
          <a:r>
            <a:rPr lang="en-US" b="1" i="0" baseline="0"/>
            <a:t>overall system performance</a:t>
          </a:r>
          <a:r>
            <a:rPr lang="en-US" b="0" i="0" baseline="0"/>
            <a:t>, while balancing their own individual goals.</a:t>
          </a:r>
          <a:endParaRPr lang="en-US"/>
        </a:p>
      </dgm:t>
    </dgm:pt>
    <dgm:pt modelId="{C91C56FE-26A3-4398-9FF8-92E9E3177869}" type="parTrans" cxnId="{463C39FD-234F-4127-A87C-392967B4C8C1}">
      <dgm:prSet/>
      <dgm:spPr/>
      <dgm:t>
        <a:bodyPr/>
        <a:lstStyle/>
        <a:p>
          <a:endParaRPr lang="en-US"/>
        </a:p>
      </dgm:t>
    </dgm:pt>
    <dgm:pt modelId="{184B568A-C00A-47D9-B9C3-DAFA547A3271}" type="sibTrans" cxnId="{463C39FD-234F-4127-A87C-392967B4C8C1}">
      <dgm:prSet/>
      <dgm:spPr/>
      <dgm:t>
        <a:bodyPr/>
        <a:lstStyle/>
        <a:p>
          <a:endParaRPr lang="en-US"/>
        </a:p>
      </dgm:t>
    </dgm:pt>
    <dgm:pt modelId="{AA6C4A21-1EF3-4978-A497-C966530BBD49}">
      <dgm:prSet/>
      <dgm:spPr/>
      <dgm:t>
        <a:bodyPr/>
        <a:lstStyle/>
        <a:p>
          <a:r>
            <a:rPr lang="en-US" b="0" i="0" baseline="0"/>
            <a:t>This leads to two core questions:</a:t>
          </a:r>
          <a:br>
            <a:rPr lang="en-US" b="0" i="0" baseline="0"/>
          </a:br>
          <a:r>
            <a:rPr lang="en-US" b="1" i="0" baseline="0"/>
            <a:t>• Who should each agent pay attention to?</a:t>
          </a:r>
          <a:br>
            <a:rPr lang="en-US" b="0" i="0" baseline="0"/>
          </a:br>
          <a:r>
            <a:rPr lang="en-US" b="1" i="0" baseline="0"/>
            <a:t>• What joint decisions should they make so the group, not just the individual, succeeds?</a:t>
          </a:r>
          <a:endParaRPr lang="en-US"/>
        </a:p>
      </dgm:t>
    </dgm:pt>
    <dgm:pt modelId="{FBCF2DE0-EACF-47FF-BCC2-61A1CEBD8EB2}" type="parTrans" cxnId="{E95AC785-6410-4F44-AE8B-0227B2275ADB}">
      <dgm:prSet/>
      <dgm:spPr/>
      <dgm:t>
        <a:bodyPr/>
        <a:lstStyle/>
        <a:p>
          <a:endParaRPr lang="en-US"/>
        </a:p>
      </dgm:t>
    </dgm:pt>
    <dgm:pt modelId="{1B891241-893C-4C1E-ABE2-C8D07A3CD64D}" type="sibTrans" cxnId="{E95AC785-6410-4F44-AE8B-0227B2275ADB}">
      <dgm:prSet/>
      <dgm:spPr/>
      <dgm:t>
        <a:bodyPr/>
        <a:lstStyle/>
        <a:p>
          <a:endParaRPr lang="en-US"/>
        </a:p>
      </dgm:t>
    </dgm:pt>
    <dgm:pt modelId="{F2A24C62-71E9-40BA-A387-B323274F6A57}" type="pres">
      <dgm:prSet presAssocID="{05DCBB5F-AD09-48AC-B397-A12F4F823BC0}" presName="root" presStyleCnt="0">
        <dgm:presLayoutVars>
          <dgm:dir/>
          <dgm:resizeHandles val="exact"/>
        </dgm:presLayoutVars>
      </dgm:prSet>
      <dgm:spPr/>
    </dgm:pt>
    <dgm:pt modelId="{49093C8E-7002-4386-BEDD-4A593324C159}" type="pres">
      <dgm:prSet presAssocID="{F068C031-AB39-469B-9AA7-31440347FA1A}" presName="compNode" presStyleCnt="0"/>
      <dgm:spPr/>
    </dgm:pt>
    <dgm:pt modelId="{81064B31-DD56-4AC0-A5A6-C456F8F3FD6E}" type="pres">
      <dgm:prSet presAssocID="{F068C031-AB39-469B-9AA7-31440347FA1A}" presName="bgRect" presStyleLbl="bgShp" presStyleIdx="0" presStyleCnt="3"/>
      <dgm:spPr/>
    </dgm:pt>
    <dgm:pt modelId="{0913184A-76D6-4DE7-8CCE-886D9643B237}" type="pres">
      <dgm:prSet presAssocID="{F068C031-AB39-469B-9AA7-31440347FA1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twork Diagram"/>
        </a:ext>
      </dgm:extLst>
    </dgm:pt>
    <dgm:pt modelId="{B29DAF96-2396-4105-B115-256430DFBB75}" type="pres">
      <dgm:prSet presAssocID="{F068C031-AB39-469B-9AA7-31440347FA1A}" presName="spaceRect" presStyleCnt="0"/>
      <dgm:spPr/>
    </dgm:pt>
    <dgm:pt modelId="{F9331094-8A3D-4A19-9A21-62FDB77BF641}" type="pres">
      <dgm:prSet presAssocID="{F068C031-AB39-469B-9AA7-31440347FA1A}" presName="parTx" presStyleLbl="revTx" presStyleIdx="0" presStyleCnt="3">
        <dgm:presLayoutVars>
          <dgm:chMax val="0"/>
          <dgm:chPref val="0"/>
        </dgm:presLayoutVars>
      </dgm:prSet>
      <dgm:spPr/>
    </dgm:pt>
    <dgm:pt modelId="{0D3EF084-21E2-40C9-B82B-9974EAADB6A7}" type="pres">
      <dgm:prSet presAssocID="{300B2D38-ECF3-4194-BB6C-9DA18A322B18}" presName="sibTrans" presStyleCnt="0"/>
      <dgm:spPr/>
    </dgm:pt>
    <dgm:pt modelId="{6309071F-DEE7-409E-B87F-116C5061B212}" type="pres">
      <dgm:prSet presAssocID="{2C271D88-FC64-438C-953C-6C9414A70EAE}" presName="compNode" presStyleCnt="0"/>
      <dgm:spPr/>
    </dgm:pt>
    <dgm:pt modelId="{1F7A9822-5F55-4609-AB4C-254C35EE73B3}" type="pres">
      <dgm:prSet presAssocID="{2C271D88-FC64-438C-953C-6C9414A70EAE}" presName="bgRect" presStyleLbl="bgShp" presStyleIdx="1" presStyleCnt="3"/>
      <dgm:spPr/>
    </dgm:pt>
    <dgm:pt modelId="{4E163342-1D57-484A-8FDB-AF8816A954E6}" type="pres">
      <dgm:prSet presAssocID="{2C271D88-FC64-438C-953C-6C9414A70EA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8B155136-FF6F-4641-8E4E-F3138BC39DBA}" type="pres">
      <dgm:prSet presAssocID="{2C271D88-FC64-438C-953C-6C9414A70EAE}" presName="spaceRect" presStyleCnt="0"/>
      <dgm:spPr/>
    </dgm:pt>
    <dgm:pt modelId="{083DD324-DF90-4448-A030-E4CE972EFDE6}" type="pres">
      <dgm:prSet presAssocID="{2C271D88-FC64-438C-953C-6C9414A70EAE}" presName="parTx" presStyleLbl="revTx" presStyleIdx="1" presStyleCnt="3">
        <dgm:presLayoutVars>
          <dgm:chMax val="0"/>
          <dgm:chPref val="0"/>
        </dgm:presLayoutVars>
      </dgm:prSet>
      <dgm:spPr/>
    </dgm:pt>
    <dgm:pt modelId="{D1CD524C-C97E-4EB9-915E-4963EDDBB854}" type="pres">
      <dgm:prSet presAssocID="{184B568A-C00A-47D9-B9C3-DAFA547A3271}" presName="sibTrans" presStyleCnt="0"/>
      <dgm:spPr/>
    </dgm:pt>
    <dgm:pt modelId="{0CAF43B7-AF59-46EC-8DE5-DAA8ECF616BF}" type="pres">
      <dgm:prSet presAssocID="{AA6C4A21-1EF3-4978-A497-C966530BBD49}" presName="compNode" presStyleCnt="0"/>
      <dgm:spPr/>
    </dgm:pt>
    <dgm:pt modelId="{F75A020D-F14D-47AA-BBA9-0D7E0530A27A}" type="pres">
      <dgm:prSet presAssocID="{AA6C4A21-1EF3-4978-A497-C966530BBD49}" presName="bgRect" presStyleLbl="bgShp" presStyleIdx="2" presStyleCnt="3"/>
      <dgm:spPr/>
    </dgm:pt>
    <dgm:pt modelId="{6C6821F8-2F79-4BA0-AF55-930A72581710}" type="pres">
      <dgm:prSet presAssocID="{AA6C4A21-1EF3-4978-A497-C966530BBD4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are With Person"/>
        </a:ext>
      </dgm:extLst>
    </dgm:pt>
    <dgm:pt modelId="{D1215C67-8786-4A95-8540-F628D2A79999}" type="pres">
      <dgm:prSet presAssocID="{AA6C4A21-1EF3-4978-A497-C966530BBD49}" presName="spaceRect" presStyleCnt="0"/>
      <dgm:spPr/>
    </dgm:pt>
    <dgm:pt modelId="{6AE1F165-038A-4C8A-A84C-DCC09E958DE9}" type="pres">
      <dgm:prSet presAssocID="{AA6C4A21-1EF3-4978-A497-C966530BBD49}" presName="parTx" presStyleLbl="revTx" presStyleIdx="2" presStyleCnt="3">
        <dgm:presLayoutVars>
          <dgm:chMax val="0"/>
          <dgm:chPref val="0"/>
        </dgm:presLayoutVars>
      </dgm:prSet>
      <dgm:spPr/>
    </dgm:pt>
  </dgm:ptLst>
  <dgm:cxnLst>
    <dgm:cxn modelId="{E741A12D-E166-4641-9C84-FEC67FB7C223}" type="presOf" srcId="{05DCBB5F-AD09-48AC-B397-A12F4F823BC0}" destId="{F2A24C62-71E9-40BA-A387-B323274F6A57}" srcOrd="0" destOrd="0" presId="urn:microsoft.com/office/officeart/2018/2/layout/IconVerticalSolidList"/>
    <dgm:cxn modelId="{0A7C4A37-002D-43BF-BD30-6AC6DA4C3EE1}" type="presOf" srcId="{F068C031-AB39-469B-9AA7-31440347FA1A}" destId="{F9331094-8A3D-4A19-9A21-62FDB77BF641}" srcOrd="0" destOrd="0" presId="urn:microsoft.com/office/officeart/2018/2/layout/IconVerticalSolidList"/>
    <dgm:cxn modelId="{E95AC785-6410-4F44-AE8B-0227B2275ADB}" srcId="{05DCBB5F-AD09-48AC-B397-A12F4F823BC0}" destId="{AA6C4A21-1EF3-4978-A497-C966530BBD49}" srcOrd="2" destOrd="0" parTransId="{FBCF2DE0-EACF-47FF-BCC2-61A1CEBD8EB2}" sibTransId="{1B891241-893C-4C1E-ABE2-C8D07A3CD64D}"/>
    <dgm:cxn modelId="{2E3369C4-ADE6-4B73-9577-DE657D688B68}" srcId="{05DCBB5F-AD09-48AC-B397-A12F4F823BC0}" destId="{F068C031-AB39-469B-9AA7-31440347FA1A}" srcOrd="0" destOrd="0" parTransId="{351F1A5E-7685-4293-95DF-BD0425BA96C0}" sibTransId="{300B2D38-ECF3-4194-BB6C-9DA18A322B18}"/>
    <dgm:cxn modelId="{C731E2F1-D961-490A-82CB-391855400784}" type="presOf" srcId="{2C271D88-FC64-438C-953C-6C9414A70EAE}" destId="{083DD324-DF90-4448-A030-E4CE972EFDE6}" srcOrd="0" destOrd="0" presId="urn:microsoft.com/office/officeart/2018/2/layout/IconVerticalSolidList"/>
    <dgm:cxn modelId="{DBC145FA-0148-40A0-9881-2E4B5002D19B}" type="presOf" srcId="{AA6C4A21-1EF3-4978-A497-C966530BBD49}" destId="{6AE1F165-038A-4C8A-A84C-DCC09E958DE9}" srcOrd="0" destOrd="0" presId="urn:microsoft.com/office/officeart/2018/2/layout/IconVerticalSolidList"/>
    <dgm:cxn modelId="{463C39FD-234F-4127-A87C-392967B4C8C1}" srcId="{05DCBB5F-AD09-48AC-B397-A12F4F823BC0}" destId="{2C271D88-FC64-438C-953C-6C9414A70EAE}" srcOrd="1" destOrd="0" parTransId="{C91C56FE-26A3-4398-9FF8-92E9E3177869}" sibTransId="{184B568A-C00A-47D9-B9C3-DAFA547A3271}"/>
    <dgm:cxn modelId="{F7F0E38D-D3ED-41C3-A5F3-011D041C0D98}" type="presParOf" srcId="{F2A24C62-71E9-40BA-A387-B323274F6A57}" destId="{49093C8E-7002-4386-BEDD-4A593324C159}" srcOrd="0" destOrd="0" presId="urn:microsoft.com/office/officeart/2018/2/layout/IconVerticalSolidList"/>
    <dgm:cxn modelId="{C1425FCF-FEE3-4C96-8847-C1024FE7FA2B}" type="presParOf" srcId="{49093C8E-7002-4386-BEDD-4A593324C159}" destId="{81064B31-DD56-4AC0-A5A6-C456F8F3FD6E}" srcOrd="0" destOrd="0" presId="urn:microsoft.com/office/officeart/2018/2/layout/IconVerticalSolidList"/>
    <dgm:cxn modelId="{6AC28824-E701-418C-B4EC-0BA81FE1E871}" type="presParOf" srcId="{49093C8E-7002-4386-BEDD-4A593324C159}" destId="{0913184A-76D6-4DE7-8CCE-886D9643B237}" srcOrd="1" destOrd="0" presId="urn:microsoft.com/office/officeart/2018/2/layout/IconVerticalSolidList"/>
    <dgm:cxn modelId="{0BF4C17D-B6DD-49C1-AD33-37AF3158B0A7}" type="presParOf" srcId="{49093C8E-7002-4386-BEDD-4A593324C159}" destId="{B29DAF96-2396-4105-B115-256430DFBB75}" srcOrd="2" destOrd="0" presId="urn:microsoft.com/office/officeart/2018/2/layout/IconVerticalSolidList"/>
    <dgm:cxn modelId="{A818BB25-9A86-4F6E-A504-2C427CF22C4F}" type="presParOf" srcId="{49093C8E-7002-4386-BEDD-4A593324C159}" destId="{F9331094-8A3D-4A19-9A21-62FDB77BF641}" srcOrd="3" destOrd="0" presId="urn:microsoft.com/office/officeart/2018/2/layout/IconVerticalSolidList"/>
    <dgm:cxn modelId="{AC0B885B-7A53-4980-9E25-7B0749777F5C}" type="presParOf" srcId="{F2A24C62-71E9-40BA-A387-B323274F6A57}" destId="{0D3EF084-21E2-40C9-B82B-9974EAADB6A7}" srcOrd="1" destOrd="0" presId="urn:microsoft.com/office/officeart/2018/2/layout/IconVerticalSolidList"/>
    <dgm:cxn modelId="{B8602DB2-1E77-4CEB-9C3B-15939872B70E}" type="presParOf" srcId="{F2A24C62-71E9-40BA-A387-B323274F6A57}" destId="{6309071F-DEE7-409E-B87F-116C5061B212}" srcOrd="2" destOrd="0" presId="urn:microsoft.com/office/officeart/2018/2/layout/IconVerticalSolidList"/>
    <dgm:cxn modelId="{1275CCD0-523B-4963-9601-EE7AA6D27EC1}" type="presParOf" srcId="{6309071F-DEE7-409E-B87F-116C5061B212}" destId="{1F7A9822-5F55-4609-AB4C-254C35EE73B3}" srcOrd="0" destOrd="0" presId="urn:microsoft.com/office/officeart/2018/2/layout/IconVerticalSolidList"/>
    <dgm:cxn modelId="{543AE090-25B1-4323-BDD0-9E4A52C9A4C4}" type="presParOf" srcId="{6309071F-DEE7-409E-B87F-116C5061B212}" destId="{4E163342-1D57-484A-8FDB-AF8816A954E6}" srcOrd="1" destOrd="0" presId="urn:microsoft.com/office/officeart/2018/2/layout/IconVerticalSolidList"/>
    <dgm:cxn modelId="{73C814EF-6DFF-4D45-B3E7-55FF88760937}" type="presParOf" srcId="{6309071F-DEE7-409E-B87F-116C5061B212}" destId="{8B155136-FF6F-4641-8E4E-F3138BC39DBA}" srcOrd="2" destOrd="0" presId="urn:microsoft.com/office/officeart/2018/2/layout/IconVerticalSolidList"/>
    <dgm:cxn modelId="{B7D150BB-50F5-408F-9E2C-9B313AFD4D8C}" type="presParOf" srcId="{6309071F-DEE7-409E-B87F-116C5061B212}" destId="{083DD324-DF90-4448-A030-E4CE972EFDE6}" srcOrd="3" destOrd="0" presId="urn:microsoft.com/office/officeart/2018/2/layout/IconVerticalSolidList"/>
    <dgm:cxn modelId="{6530961B-3C0E-453A-8A60-0BC618B91A91}" type="presParOf" srcId="{F2A24C62-71E9-40BA-A387-B323274F6A57}" destId="{D1CD524C-C97E-4EB9-915E-4963EDDBB854}" srcOrd="3" destOrd="0" presId="urn:microsoft.com/office/officeart/2018/2/layout/IconVerticalSolidList"/>
    <dgm:cxn modelId="{260EB69B-1EFC-401E-A7BD-9F44B9B5C73A}" type="presParOf" srcId="{F2A24C62-71E9-40BA-A387-B323274F6A57}" destId="{0CAF43B7-AF59-46EC-8DE5-DAA8ECF616BF}" srcOrd="4" destOrd="0" presId="urn:microsoft.com/office/officeart/2018/2/layout/IconVerticalSolidList"/>
    <dgm:cxn modelId="{540DFDE5-7736-4420-9BF7-DC1946A5F2F7}" type="presParOf" srcId="{0CAF43B7-AF59-46EC-8DE5-DAA8ECF616BF}" destId="{F75A020D-F14D-47AA-BBA9-0D7E0530A27A}" srcOrd="0" destOrd="0" presId="urn:microsoft.com/office/officeart/2018/2/layout/IconVerticalSolidList"/>
    <dgm:cxn modelId="{ED054D1D-5D26-4DE5-9BBE-5327781B3F0D}" type="presParOf" srcId="{0CAF43B7-AF59-46EC-8DE5-DAA8ECF616BF}" destId="{6C6821F8-2F79-4BA0-AF55-930A72581710}" srcOrd="1" destOrd="0" presId="urn:microsoft.com/office/officeart/2018/2/layout/IconVerticalSolidList"/>
    <dgm:cxn modelId="{D13B0EA8-A903-4F56-A5CF-EB67181A3B17}" type="presParOf" srcId="{0CAF43B7-AF59-46EC-8DE5-DAA8ECF616BF}" destId="{D1215C67-8786-4A95-8540-F628D2A79999}" srcOrd="2" destOrd="0" presId="urn:microsoft.com/office/officeart/2018/2/layout/IconVerticalSolidList"/>
    <dgm:cxn modelId="{045352DC-DC48-4AC3-8981-80F5023E789E}" type="presParOf" srcId="{0CAF43B7-AF59-46EC-8DE5-DAA8ECF616BF}" destId="{6AE1F165-038A-4C8A-A84C-DCC09E958DE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2C14195-876D-4ABE-8664-323370A94538}" type="doc">
      <dgm:prSet loTypeId="urn:microsoft.com/office/officeart/2005/8/layout/process5" loCatId="process" qsTypeId="urn:microsoft.com/office/officeart/2005/8/quickstyle/simple1" qsCatId="simple" csTypeId="urn:microsoft.com/office/officeart/2005/8/colors/accent4_2" csCatId="accent4"/>
      <dgm:spPr/>
      <dgm:t>
        <a:bodyPr/>
        <a:lstStyle/>
        <a:p>
          <a:endParaRPr lang="en-US"/>
        </a:p>
      </dgm:t>
    </dgm:pt>
    <dgm:pt modelId="{E77E9BFB-715B-42F8-A0C4-06F3C5D87A6C}">
      <dgm:prSet/>
      <dgm:spPr/>
      <dgm:t>
        <a:bodyPr/>
        <a:lstStyle/>
        <a:p>
          <a:r>
            <a:rPr lang="en-US" b="0" i="0" baseline="0"/>
            <a:t>The survey introduces a simple three-step loop that applies to any coordination problem:</a:t>
          </a:r>
          <a:endParaRPr lang="en-US"/>
        </a:p>
      </dgm:t>
    </dgm:pt>
    <dgm:pt modelId="{B56CCF77-EB8B-4DD0-ADF4-3C3C9A514671}" type="parTrans" cxnId="{24FFB239-F3A7-49C0-A18E-DD2DBE418C88}">
      <dgm:prSet/>
      <dgm:spPr/>
      <dgm:t>
        <a:bodyPr/>
        <a:lstStyle/>
        <a:p>
          <a:endParaRPr lang="en-US"/>
        </a:p>
      </dgm:t>
    </dgm:pt>
    <dgm:pt modelId="{586D4F0F-DD53-4854-8915-0ACF8B358361}" type="sibTrans" cxnId="{24FFB239-F3A7-49C0-A18E-DD2DBE418C88}">
      <dgm:prSet/>
      <dgm:spPr/>
      <dgm:t>
        <a:bodyPr/>
        <a:lstStyle/>
        <a:p>
          <a:endParaRPr lang="en-US"/>
        </a:p>
      </dgm:t>
    </dgm:pt>
    <dgm:pt modelId="{275EBA94-3246-4852-92A9-4F38A186BE70}">
      <dgm:prSet/>
      <dgm:spPr/>
      <dgm:t>
        <a:bodyPr/>
        <a:lstStyle/>
        <a:p>
          <a:r>
            <a:rPr lang="en-US" b="1" i="0" baseline="0"/>
            <a:t>1. Evaluate system performance</a:t>
          </a:r>
          <a:r>
            <a:rPr lang="en-US" b="0" i="0" baseline="0"/>
            <a:t> – How well is the team doing right now? Are there collisions, delays, or wasted effort?</a:t>
          </a:r>
          <a:endParaRPr lang="en-US"/>
        </a:p>
      </dgm:t>
    </dgm:pt>
    <dgm:pt modelId="{106B06A0-D194-4B0A-A9D6-F069B078458B}" type="parTrans" cxnId="{F63B7E84-4A62-4531-8624-52D9AFF2B972}">
      <dgm:prSet/>
      <dgm:spPr/>
      <dgm:t>
        <a:bodyPr/>
        <a:lstStyle/>
        <a:p>
          <a:endParaRPr lang="en-US"/>
        </a:p>
      </dgm:t>
    </dgm:pt>
    <dgm:pt modelId="{A9802451-9680-437A-BFE3-363DD9C85660}" type="sibTrans" cxnId="{F63B7E84-4A62-4531-8624-52D9AFF2B972}">
      <dgm:prSet/>
      <dgm:spPr/>
      <dgm:t>
        <a:bodyPr/>
        <a:lstStyle/>
        <a:p>
          <a:endParaRPr lang="en-US"/>
        </a:p>
      </dgm:t>
    </dgm:pt>
    <dgm:pt modelId="{17284CD0-C0BC-4C6D-9813-51765072FEE6}">
      <dgm:prSet/>
      <dgm:spPr/>
      <dgm:t>
        <a:bodyPr/>
        <a:lstStyle/>
        <a:p>
          <a:r>
            <a:rPr lang="en-US" b="1" i="0" baseline="0"/>
            <a:t>2. Decide who to coordinate with</a:t>
          </a:r>
          <a:r>
            <a:rPr lang="en-US" b="0" i="0" baseline="0"/>
            <a:t> – Agents identify relevant neighbors, teams, or clusters based on their dependencies.</a:t>
          </a:r>
          <a:endParaRPr lang="en-US"/>
        </a:p>
      </dgm:t>
    </dgm:pt>
    <dgm:pt modelId="{DCDC93CF-AD71-4B8E-AAFF-57D27F4D3EC0}" type="parTrans" cxnId="{12671227-59BE-43DB-8AF8-C55C5BC2FDEA}">
      <dgm:prSet/>
      <dgm:spPr/>
      <dgm:t>
        <a:bodyPr/>
        <a:lstStyle/>
        <a:p>
          <a:endParaRPr lang="en-US"/>
        </a:p>
      </dgm:t>
    </dgm:pt>
    <dgm:pt modelId="{A8FDD595-D8FD-4C24-93D5-259FCA7B5EE1}" type="sibTrans" cxnId="{12671227-59BE-43DB-8AF8-C55C5BC2FDEA}">
      <dgm:prSet/>
      <dgm:spPr/>
      <dgm:t>
        <a:bodyPr/>
        <a:lstStyle/>
        <a:p>
          <a:endParaRPr lang="en-US"/>
        </a:p>
      </dgm:t>
    </dgm:pt>
    <dgm:pt modelId="{8148A7DE-E51D-4448-A7FC-D6583BD06D03}">
      <dgm:prSet/>
      <dgm:spPr/>
      <dgm:t>
        <a:bodyPr/>
        <a:lstStyle/>
        <a:p>
          <a:r>
            <a:rPr lang="en-US" b="1" i="0" baseline="0"/>
            <a:t>3. Decide how to coordinate</a:t>
          </a:r>
          <a:r>
            <a:rPr lang="en-US" b="0" i="0" baseline="0"/>
            <a:t> – Agents update their actions, plans, or messages to improve the global outcome.</a:t>
          </a:r>
          <a:endParaRPr lang="en-US"/>
        </a:p>
      </dgm:t>
    </dgm:pt>
    <dgm:pt modelId="{22EA4F11-3B5E-4FBA-A0A6-FB667BE3F2C4}" type="parTrans" cxnId="{3D8B2843-165F-458E-81FB-8C0441767B5A}">
      <dgm:prSet/>
      <dgm:spPr/>
      <dgm:t>
        <a:bodyPr/>
        <a:lstStyle/>
        <a:p>
          <a:endParaRPr lang="en-US"/>
        </a:p>
      </dgm:t>
    </dgm:pt>
    <dgm:pt modelId="{E4CDDDC8-203D-4274-B073-88C67D5E3F67}" type="sibTrans" cxnId="{3D8B2843-165F-458E-81FB-8C0441767B5A}">
      <dgm:prSet/>
      <dgm:spPr/>
      <dgm:t>
        <a:bodyPr/>
        <a:lstStyle/>
        <a:p>
          <a:endParaRPr lang="en-US"/>
        </a:p>
      </dgm:t>
    </dgm:pt>
    <dgm:pt modelId="{F9C4378B-AB9A-47BD-97F1-CC54DF5EB786}">
      <dgm:prSet/>
      <dgm:spPr/>
      <dgm:t>
        <a:bodyPr/>
        <a:lstStyle/>
        <a:p>
          <a:r>
            <a:rPr lang="en-US" b="0" i="0" baseline="0"/>
            <a:t>This loop continuously repeats and can be implemented in different ways:</a:t>
          </a:r>
          <a:br>
            <a:rPr lang="en-US" b="0" i="0" baseline="0"/>
          </a:br>
          <a:r>
            <a:rPr lang="en-US" b="1" i="0" baseline="0"/>
            <a:t>centralized</a:t>
          </a:r>
          <a:r>
            <a:rPr lang="en-US" b="0" i="0" baseline="0"/>
            <a:t>, </a:t>
          </a:r>
          <a:r>
            <a:rPr lang="en-US" b="1" i="0" baseline="0"/>
            <a:t>hierarchical</a:t>
          </a:r>
          <a:r>
            <a:rPr lang="en-US" b="0" i="0" baseline="0"/>
            <a:t>, or </a:t>
          </a:r>
          <a:r>
            <a:rPr lang="en-US" b="1" i="0" baseline="0"/>
            <a:t>fully decentralized</a:t>
          </a:r>
          <a:r>
            <a:rPr lang="en-US" b="0" i="0" baseline="0"/>
            <a:t> depending on the system.</a:t>
          </a:r>
          <a:endParaRPr lang="en-US"/>
        </a:p>
      </dgm:t>
    </dgm:pt>
    <dgm:pt modelId="{15CC39E3-C6CE-449F-B5A7-AF309185C5DC}" type="parTrans" cxnId="{646A87F6-8245-425A-BE4A-49F7CDA56468}">
      <dgm:prSet/>
      <dgm:spPr/>
      <dgm:t>
        <a:bodyPr/>
        <a:lstStyle/>
        <a:p>
          <a:endParaRPr lang="en-US"/>
        </a:p>
      </dgm:t>
    </dgm:pt>
    <dgm:pt modelId="{8AFA61F2-DB35-4703-B549-BFF72B45A999}" type="sibTrans" cxnId="{646A87F6-8245-425A-BE4A-49F7CDA56468}">
      <dgm:prSet/>
      <dgm:spPr/>
      <dgm:t>
        <a:bodyPr/>
        <a:lstStyle/>
        <a:p>
          <a:endParaRPr lang="en-US"/>
        </a:p>
      </dgm:t>
    </dgm:pt>
    <dgm:pt modelId="{7A3E5F95-8B9C-4ECD-8EEE-1B5CADFDF2A9}" type="pres">
      <dgm:prSet presAssocID="{62C14195-876D-4ABE-8664-323370A94538}" presName="diagram" presStyleCnt="0">
        <dgm:presLayoutVars>
          <dgm:dir/>
          <dgm:resizeHandles val="exact"/>
        </dgm:presLayoutVars>
      </dgm:prSet>
      <dgm:spPr/>
    </dgm:pt>
    <dgm:pt modelId="{9019B69B-CC98-4740-87CD-27B8BECC325B}" type="pres">
      <dgm:prSet presAssocID="{E77E9BFB-715B-42F8-A0C4-06F3C5D87A6C}" presName="node" presStyleLbl="node1" presStyleIdx="0" presStyleCnt="5">
        <dgm:presLayoutVars>
          <dgm:bulletEnabled val="1"/>
        </dgm:presLayoutVars>
      </dgm:prSet>
      <dgm:spPr/>
    </dgm:pt>
    <dgm:pt modelId="{32FE7397-36C7-4B40-B803-98F1B378E972}" type="pres">
      <dgm:prSet presAssocID="{586D4F0F-DD53-4854-8915-0ACF8B358361}" presName="sibTrans" presStyleLbl="sibTrans2D1" presStyleIdx="0" presStyleCnt="4"/>
      <dgm:spPr/>
    </dgm:pt>
    <dgm:pt modelId="{D55AD8A3-DA3F-493A-B2B6-BBC1B3F83119}" type="pres">
      <dgm:prSet presAssocID="{586D4F0F-DD53-4854-8915-0ACF8B358361}" presName="connectorText" presStyleLbl="sibTrans2D1" presStyleIdx="0" presStyleCnt="4"/>
      <dgm:spPr/>
    </dgm:pt>
    <dgm:pt modelId="{97778544-6243-4DE4-915C-24E7E694D79B}" type="pres">
      <dgm:prSet presAssocID="{275EBA94-3246-4852-92A9-4F38A186BE70}" presName="node" presStyleLbl="node1" presStyleIdx="1" presStyleCnt="5">
        <dgm:presLayoutVars>
          <dgm:bulletEnabled val="1"/>
        </dgm:presLayoutVars>
      </dgm:prSet>
      <dgm:spPr/>
    </dgm:pt>
    <dgm:pt modelId="{CAE95A49-58EB-4DA7-8C17-A47F26510DF0}" type="pres">
      <dgm:prSet presAssocID="{A9802451-9680-437A-BFE3-363DD9C85660}" presName="sibTrans" presStyleLbl="sibTrans2D1" presStyleIdx="1" presStyleCnt="4"/>
      <dgm:spPr/>
    </dgm:pt>
    <dgm:pt modelId="{B933C03D-569A-4EF2-8B88-CEAB2DAFF01F}" type="pres">
      <dgm:prSet presAssocID="{A9802451-9680-437A-BFE3-363DD9C85660}" presName="connectorText" presStyleLbl="sibTrans2D1" presStyleIdx="1" presStyleCnt="4"/>
      <dgm:spPr/>
    </dgm:pt>
    <dgm:pt modelId="{8BE7C5B6-3825-4EAC-96E9-BCC44E8FABB1}" type="pres">
      <dgm:prSet presAssocID="{17284CD0-C0BC-4C6D-9813-51765072FEE6}" presName="node" presStyleLbl="node1" presStyleIdx="2" presStyleCnt="5">
        <dgm:presLayoutVars>
          <dgm:bulletEnabled val="1"/>
        </dgm:presLayoutVars>
      </dgm:prSet>
      <dgm:spPr/>
    </dgm:pt>
    <dgm:pt modelId="{11A9A5EB-9CC7-464C-97C8-68C88636B561}" type="pres">
      <dgm:prSet presAssocID="{A8FDD595-D8FD-4C24-93D5-259FCA7B5EE1}" presName="sibTrans" presStyleLbl="sibTrans2D1" presStyleIdx="2" presStyleCnt="4"/>
      <dgm:spPr/>
    </dgm:pt>
    <dgm:pt modelId="{936D50F1-7FDE-4BBB-A7DD-352199782E0A}" type="pres">
      <dgm:prSet presAssocID="{A8FDD595-D8FD-4C24-93D5-259FCA7B5EE1}" presName="connectorText" presStyleLbl="sibTrans2D1" presStyleIdx="2" presStyleCnt="4"/>
      <dgm:spPr/>
    </dgm:pt>
    <dgm:pt modelId="{B983C733-810F-4002-A27F-1FA95C0087FC}" type="pres">
      <dgm:prSet presAssocID="{8148A7DE-E51D-4448-A7FC-D6583BD06D03}" presName="node" presStyleLbl="node1" presStyleIdx="3" presStyleCnt="5">
        <dgm:presLayoutVars>
          <dgm:bulletEnabled val="1"/>
        </dgm:presLayoutVars>
      </dgm:prSet>
      <dgm:spPr/>
    </dgm:pt>
    <dgm:pt modelId="{0C4F13D2-7818-4605-8337-88A8EC230882}" type="pres">
      <dgm:prSet presAssocID="{E4CDDDC8-203D-4274-B073-88C67D5E3F67}" presName="sibTrans" presStyleLbl="sibTrans2D1" presStyleIdx="3" presStyleCnt="4"/>
      <dgm:spPr/>
    </dgm:pt>
    <dgm:pt modelId="{E26EC804-B2DE-42B9-9279-BE2338EB404C}" type="pres">
      <dgm:prSet presAssocID="{E4CDDDC8-203D-4274-B073-88C67D5E3F67}" presName="connectorText" presStyleLbl="sibTrans2D1" presStyleIdx="3" presStyleCnt="4"/>
      <dgm:spPr/>
    </dgm:pt>
    <dgm:pt modelId="{663E7F54-7999-4D84-A1FD-77061F35FF77}" type="pres">
      <dgm:prSet presAssocID="{F9C4378B-AB9A-47BD-97F1-CC54DF5EB786}" presName="node" presStyleLbl="node1" presStyleIdx="4" presStyleCnt="5">
        <dgm:presLayoutVars>
          <dgm:bulletEnabled val="1"/>
        </dgm:presLayoutVars>
      </dgm:prSet>
      <dgm:spPr/>
    </dgm:pt>
  </dgm:ptLst>
  <dgm:cxnLst>
    <dgm:cxn modelId="{2FC39005-5E7C-4689-AF8A-36817A7EA3AE}" type="presOf" srcId="{A9802451-9680-437A-BFE3-363DD9C85660}" destId="{CAE95A49-58EB-4DA7-8C17-A47F26510DF0}" srcOrd="0" destOrd="0" presId="urn:microsoft.com/office/officeart/2005/8/layout/process5"/>
    <dgm:cxn modelId="{3A68DC0A-1916-480F-8F2A-09B3AB0BAFDD}" type="presOf" srcId="{586D4F0F-DD53-4854-8915-0ACF8B358361}" destId="{D55AD8A3-DA3F-493A-B2B6-BBC1B3F83119}" srcOrd="1" destOrd="0" presId="urn:microsoft.com/office/officeart/2005/8/layout/process5"/>
    <dgm:cxn modelId="{594D400D-2102-485A-AE67-FD6F5B35F844}" type="presOf" srcId="{A8FDD595-D8FD-4C24-93D5-259FCA7B5EE1}" destId="{936D50F1-7FDE-4BBB-A7DD-352199782E0A}" srcOrd="1" destOrd="0" presId="urn:microsoft.com/office/officeart/2005/8/layout/process5"/>
    <dgm:cxn modelId="{12671227-59BE-43DB-8AF8-C55C5BC2FDEA}" srcId="{62C14195-876D-4ABE-8664-323370A94538}" destId="{17284CD0-C0BC-4C6D-9813-51765072FEE6}" srcOrd="2" destOrd="0" parTransId="{DCDC93CF-AD71-4B8E-AAFF-57D27F4D3EC0}" sibTransId="{A8FDD595-D8FD-4C24-93D5-259FCA7B5EE1}"/>
    <dgm:cxn modelId="{9ACAB233-A8F2-44A6-97A2-AA5CE3B4E855}" type="presOf" srcId="{17284CD0-C0BC-4C6D-9813-51765072FEE6}" destId="{8BE7C5B6-3825-4EAC-96E9-BCC44E8FABB1}" srcOrd="0" destOrd="0" presId="urn:microsoft.com/office/officeart/2005/8/layout/process5"/>
    <dgm:cxn modelId="{24FFB239-F3A7-49C0-A18E-DD2DBE418C88}" srcId="{62C14195-876D-4ABE-8664-323370A94538}" destId="{E77E9BFB-715B-42F8-A0C4-06F3C5D87A6C}" srcOrd="0" destOrd="0" parTransId="{B56CCF77-EB8B-4DD0-ADF4-3C3C9A514671}" sibTransId="{586D4F0F-DD53-4854-8915-0ACF8B358361}"/>
    <dgm:cxn modelId="{3D8B2843-165F-458E-81FB-8C0441767B5A}" srcId="{62C14195-876D-4ABE-8664-323370A94538}" destId="{8148A7DE-E51D-4448-A7FC-D6583BD06D03}" srcOrd="3" destOrd="0" parTransId="{22EA4F11-3B5E-4FBA-A0A6-FB667BE3F2C4}" sibTransId="{E4CDDDC8-203D-4274-B073-88C67D5E3F67}"/>
    <dgm:cxn modelId="{DE310C51-4CAB-4CFF-B3CB-B1669887BF1A}" type="presOf" srcId="{275EBA94-3246-4852-92A9-4F38A186BE70}" destId="{97778544-6243-4DE4-915C-24E7E694D79B}" srcOrd="0" destOrd="0" presId="urn:microsoft.com/office/officeart/2005/8/layout/process5"/>
    <dgm:cxn modelId="{F63B7E84-4A62-4531-8624-52D9AFF2B972}" srcId="{62C14195-876D-4ABE-8664-323370A94538}" destId="{275EBA94-3246-4852-92A9-4F38A186BE70}" srcOrd="1" destOrd="0" parTransId="{106B06A0-D194-4B0A-A9D6-F069B078458B}" sibTransId="{A9802451-9680-437A-BFE3-363DD9C85660}"/>
    <dgm:cxn modelId="{58DF8B86-AEDF-4D0F-8AEB-A230DA704FE9}" type="presOf" srcId="{E77E9BFB-715B-42F8-A0C4-06F3C5D87A6C}" destId="{9019B69B-CC98-4740-87CD-27B8BECC325B}" srcOrd="0" destOrd="0" presId="urn:microsoft.com/office/officeart/2005/8/layout/process5"/>
    <dgm:cxn modelId="{E3B3B897-406C-4B81-A4DA-7DA67BB5322F}" type="presOf" srcId="{8148A7DE-E51D-4448-A7FC-D6583BD06D03}" destId="{B983C733-810F-4002-A27F-1FA95C0087FC}" srcOrd="0" destOrd="0" presId="urn:microsoft.com/office/officeart/2005/8/layout/process5"/>
    <dgm:cxn modelId="{4E373AB2-512C-4110-9A1E-C0BD67800484}" type="presOf" srcId="{586D4F0F-DD53-4854-8915-0ACF8B358361}" destId="{32FE7397-36C7-4B40-B803-98F1B378E972}" srcOrd="0" destOrd="0" presId="urn:microsoft.com/office/officeart/2005/8/layout/process5"/>
    <dgm:cxn modelId="{E6B566BE-ECA9-48E5-AE83-3BB457227B4F}" type="presOf" srcId="{E4CDDDC8-203D-4274-B073-88C67D5E3F67}" destId="{E26EC804-B2DE-42B9-9279-BE2338EB404C}" srcOrd="1" destOrd="0" presId="urn:microsoft.com/office/officeart/2005/8/layout/process5"/>
    <dgm:cxn modelId="{989F31C0-CCF8-4E66-A9DF-3F65E86A8B2E}" type="presOf" srcId="{A9802451-9680-437A-BFE3-363DD9C85660}" destId="{B933C03D-569A-4EF2-8B88-CEAB2DAFF01F}" srcOrd="1" destOrd="0" presId="urn:microsoft.com/office/officeart/2005/8/layout/process5"/>
    <dgm:cxn modelId="{B0B440C3-9118-4055-8A91-86E9DBB555AC}" type="presOf" srcId="{F9C4378B-AB9A-47BD-97F1-CC54DF5EB786}" destId="{663E7F54-7999-4D84-A1FD-77061F35FF77}" srcOrd="0" destOrd="0" presId="urn:microsoft.com/office/officeart/2005/8/layout/process5"/>
    <dgm:cxn modelId="{15BC63CB-C4D9-4A4F-A0CD-84EA52CD1781}" type="presOf" srcId="{A8FDD595-D8FD-4C24-93D5-259FCA7B5EE1}" destId="{11A9A5EB-9CC7-464C-97C8-68C88636B561}" srcOrd="0" destOrd="0" presId="urn:microsoft.com/office/officeart/2005/8/layout/process5"/>
    <dgm:cxn modelId="{772417D2-3F47-4DCF-B329-4FE4DB7BB1E8}" type="presOf" srcId="{62C14195-876D-4ABE-8664-323370A94538}" destId="{7A3E5F95-8B9C-4ECD-8EEE-1B5CADFDF2A9}" srcOrd="0" destOrd="0" presId="urn:microsoft.com/office/officeart/2005/8/layout/process5"/>
    <dgm:cxn modelId="{646A87F6-8245-425A-BE4A-49F7CDA56468}" srcId="{62C14195-876D-4ABE-8664-323370A94538}" destId="{F9C4378B-AB9A-47BD-97F1-CC54DF5EB786}" srcOrd="4" destOrd="0" parTransId="{15CC39E3-C6CE-449F-B5A7-AF309185C5DC}" sibTransId="{8AFA61F2-DB35-4703-B549-BFF72B45A999}"/>
    <dgm:cxn modelId="{49D15FFD-7DCE-46A4-A974-FBA4438D0F3A}" type="presOf" srcId="{E4CDDDC8-203D-4274-B073-88C67D5E3F67}" destId="{0C4F13D2-7818-4605-8337-88A8EC230882}" srcOrd="0" destOrd="0" presId="urn:microsoft.com/office/officeart/2005/8/layout/process5"/>
    <dgm:cxn modelId="{2E7AD05E-0032-4C20-B943-4C288E6C6BC2}" type="presParOf" srcId="{7A3E5F95-8B9C-4ECD-8EEE-1B5CADFDF2A9}" destId="{9019B69B-CC98-4740-87CD-27B8BECC325B}" srcOrd="0" destOrd="0" presId="urn:microsoft.com/office/officeart/2005/8/layout/process5"/>
    <dgm:cxn modelId="{1B05F8BF-8BB6-4BF1-A8CB-1B0515B9B426}" type="presParOf" srcId="{7A3E5F95-8B9C-4ECD-8EEE-1B5CADFDF2A9}" destId="{32FE7397-36C7-4B40-B803-98F1B378E972}" srcOrd="1" destOrd="0" presId="urn:microsoft.com/office/officeart/2005/8/layout/process5"/>
    <dgm:cxn modelId="{7040D141-757F-4BC0-9CD3-3DFC9D2C1923}" type="presParOf" srcId="{32FE7397-36C7-4B40-B803-98F1B378E972}" destId="{D55AD8A3-DA3F-493A-B2B6-BBC1B3F83119}" srcOrd="0" destOrd="0" presId="urn:microsoft.com/office/officeart/2005/8/layout/process5"/>
    <dgm:cxn modelId="{77F176F9-C56E-4009-BD1F-66006F1F1E82}" type="presParOf" srcId="{7A3E5F95-8B9C-4ECD-8EEE-1B5CADFDF2A9}" destId="{97778544-6243-4DE4-915C-24E7E694D79B}" srcOrd="2" destOrd="0" presId="urn:microsoft.com/office/officeart/2005/8/layout/process5"/>
    <dgm:cxn modelId="{B714D543-3E76-4443-A1DB-856BA621BA51}" type="presParOf" srcId="{7A3E5F95-8B9C-4ECD-8EEE-1B5CADFDF2A9}" destId="{CAE95A49-58EB-4DA7-8C17-A47F26510DF0}" srcOrd="3" destOrd="0" presId="urn:microsoft.com/office/officeart/2005/8/layout/process5"/>
    <dgm:cxn modelId="{9BC90FC1-91B4-4D3D-B0CA-4B7FD11270EC}" type="presParOf" srcId="{CAE95A49-58EB-4DA7-8C17-A47F26510DF0}" destId="{B933C03D-569A-4EF2-8B88-CEAB2DAFF01F}" srcOrd="0" destOrd="0" presId="urn:microsoft.com/office/officeart/2005/8/layout/process5"/>
    <dgm:cxn modelId="{15532E5A-9B62-41E4-A71B-F2EFBEABD901}" type="presParOf" srcId="{7A3E5F95-8B9C-4ECD-8EEE-1B5CADFDF2A9}" destId="{8BE7C5B6-3825-4EAC-96E9-BCC44E8FABB1}" srcOrd="4" destOrd="0" presId="urn:microsoft.com/office/officeart/2005/8/layout/process5"/>
    <dgm:cxn modelId="{A706DC85-AB9A-4E7C-AFDD-6E056CAC9889}" type="presParOf" srcId="{7A3E5F95-8B9C-4ECD-8EEE-1B5CADFDF2A9}" destId="{11A9A5EB-9CC7-464C-97C8-68C88636B561}" srcOrd="5" destOrd="0" presId="urn:microsoft.com/office/officeart/2005/8/layout/process5"/>
    <dgm:cxn modelId="{EB47E35A-A240-4DF4-A1B6-AC7FC0C3F719}" type="presParOf" srcId="{11A9A5EB-9CC7-464C-97C8-68C88636B561}" destId="{936D50F1-7FDE-4BBB-A7DD-352199782E0A}" srcOrd="0" destOrd="0" presId="urn:microsoft.com/office/officeart/2005/8/layout/process5"/>
    <dgm:cxn modelId="{1DDDF981-B6A4-486E-A8AF-8D531690F66A}" type="presParOf" srcId="{7A3E5F95-8B9C-4ECD-8EEE-1B5CADFDF2A9}" destId="{B983C733-810F-4002-A27F-1FA95C0087FC}" srcOrd="6" destOrd="0" presId="urn:microsoft.com/office/officeart/2005/8/layout/process5"/>
    <dgm:cxn modelId="{CA1161F1-79E8-49E2-9A1F-3A34D00D4FBD}" type="presParOf" srcId="{7A3E5F95-8B9C-4ECD-8EEE-1B5CADFDF2A9}" destId="{0C4F13D2-7818-4605-8337-88A8EC230882}" srcOrd="7" destOrd="0" presId="urn:microsoft.com/office/officeart/2005/8/layout/process5"/>
    <dgm:cxn modelId="{065B0D94-EE0D-4FC5-B604-CF15EE045D67}" type="presParOf" srcId="{0C4F13D2-7818-4605-8337-88A8EC230882}" destId="{E26EC804-B2DE-42B9-9279-BE2338EB404C}" srcOrd="0" destOrd="0" presId="urn:microsoft.com/office/officeart/2005/8/layout/process5"/>
    <dgm:cxn modelId="{3DE26890-984C-42AA-B326-B3239FF1B2D0}" type="presParOf" srcId="{7A3E5F95-8B9C-4ECD-8EEE-1B5CADFDF2A9}" destId="{663E7F54-7999-4D84-A1FD-77061F35FF77}" srcOrd="8"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34EEB77-F163-4F51-AFF3-26B069DC5227}"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E5ADF12D-1DB2-4AD3-9291-CADF9130CEB1}">
      <dgm:prSet/>
      <dgm:spPr/>
      <dgm:t>
        <a:bodyPr/>
        <a:lstStyle/>
        <a:p>
          <a:r>
            <a:rPr lang="en-US" b="0" i="0" baseline="0"/>
            <a:t>Across different applications, three core categories of coordination tasks appear again and again:</a:t>
          </a:r>
          <a:endParaRPr lang="en-US"/>
        </a:p>
      </dgm:t>
    </dgm:pt>
    <dgm:pt modelId="{C59149CA-214C-401B-8D88-919BC7F3EE21}" type="parTrans" cxnId="{B253D5B4-47D1-4DD0-82BC-9C85639D846E}">
      <dgm:prSet/>
      <dgm:spPr/>
      <dgm:t>
        <a:bodyPr/>
        <a:lstStyle/>
        <a:p>
          <a:endParaRPr lang="en-US"/>
        </a:p>
      </dgm:t>
    </dgm:pt>
    <dgm:pt modelId="{206AE164-7298-4DD6-8618-88B716130809}" type="sibTrans" cxnId="{B253D5B4-47D1-4DD0-82BC-9C85639D846E}">
      <dgm:prSet/>
      <dgm:spPr/>
      <dgm:t>
        <a:bodyPr/>
        <a:lstStyle/>
        <a:p>
          <a:endParaRPr lang="en-US"/>
        </a:p>
      </dgm:t>
    </dgm:pt>
    <dgm:pt modelId="{15EA9813-224D-4BFA-B243-A093FB01D421}">
      <dgm:prSet/>
      <dgm:spPr/>
      <dgm:t>
        <a:bodyPr/>
        <a:lstStyle/>
        <a:p>
          <a:r>
            <a:rPr lang="en-US" b="1" i="0" baseline="0"/>
            <a:t>• Coordinated Learning</a:t>
          </a:r>
          <a:r>
            <a:rPr lang="en-US" b="0" i="0" baseline="0"/>
            <a:t> – agents learn from shared experiences, joint rewards, or a centralized critic to ensure stable and efficient learning.</a:t>
          </a:r>
          <a:endParaRPr lang="en-US"/>
        </a:p>
      </dgm:t>
    </dgm:pt>
    <dgm:pt modelId="{1F69B13B-772D-4107-A729-D86C2BD8A44D}" type="parTrans" cxnId="{005DE999-2E5A-49E8-9CB6-995267F71732}">
      <dgm:prSet/>
      <dgm:spPr/>
      <dgm:t>
        <a:bodyPr/>
        <a:lstStyle/>
        <a:p>
          <a:endParaRPr lang="en-US"/>
        </a:p>
      </dgm:t>
    </dgm:pt>
    <dgm:pt modelId="{24AB0887-C261-46A9-AE68-7A30991522E2}" type="sibTrans" cxnId="{005DE999-2E5A-49E8-9CB6-995267F71732}">
      <dgm:prSet/>
      <dgm:spPr/>
      <dgm:t>
        <a:bodyPr/>
        <a:lstStyle/>
        <a:p>
          <a:endParaRPr lang="en-US"/>
        </a:p>
      </dgm:t>
    </dgm:pt>
    <dgm:pt modelId="{A6277F1E-B4E8-414A-B59C-D6CA87A459ED}">
      <dgm:prSet/>
      <dgm:spPr/>
      <dgm:t>
        <a:bodyPr/>
        <a:lstStyle/>
        <a:p>
          <a:r>
            <a:rPr lang="en-US" b="1" i="0" baseline="0"/>
            <a:t>• Communication &amp; Cooperation</a:t>
          </a:r>
          <a:r>
            <a:rPr lang="en-US" b="0" i="0" baseline="0"/>
            <a:t> – agents decide what information to exchange, with whom, and how to structure messages to solve tasks together.</a:t>
          </a:r>
          <a:endParaRPr lang="en-US"/>
        </a:p>
      </dgm:t>
    </dgm:pt>
    <dgm:pt modelId="{9389F7C6-2B74-48C8-AA0D-68067E421C2E}" type="parTrans" cxnId="{8AF87000-D16B-435B-91C5-0CCCC013E59B}">
      <dgm:prSet/>
      <dgm:spPr/>
      <dgm:t>
        <a:bodyPr/>
        <a:lstStyle/>
        <a:p>
          <a:endParaRPr lang="en-US"/>
        </a:p>
      </dgm:t>
    </dgm:pt>
    <dgm:pt modelId="{F58909B9-EDB9-4424-A5F5-33D172DB5F89}" type="sibTrans" cxnId="{8AF87000-D16B-435B-91C5-0CCCC013E59B}">
      <dgm:prSet/>
      <dgm:spPr/>
      <dgm:t>
        <a:bodyPr/>
        <a:lstStyle/>
        <a:p>
          <a:endParaRPr lang="en-US"/>
        </a:p>
      </dgm:t>
    </dgm:pt>
    <dgm:pt modelId="{EAD640AF-5B53-46D6-9A03-945119C5D076}">
      <dgm:prSet/>
      <dgm:spPr/>
      <dgm:t>
        <a:bodyPr/>
        <a:lstStyle/>
        <a:p>
          <a:r>
            <a:rPr lang="en-US" b="1" i="0" baseline="0"/>
            <a:t>• Conflict-of-Interest Resolution</a:t>
          </a:r>
          <a:r>
            <a:rPr lang="en-US" b="0" i="0" baseline="0"/>
            <a:t> – agents avoid collisions, deadlocks, and resource conflicts while still pursuing their goals.</a:t>
          </a:r>
          <a:endParaRPr lang="en-US"/>
        </a:p>
      </dgm:t>
    </dgm:pt>
    <dgm:pt modelId="{A0EFB558-7AA4-4A3C-85B2-14E132372368}" type="parTrans" cxnId="{4C8138F0-CD72-4BB4-9979-C89FEBAF09C0}">
      <dgm:prSet/>
      <dgm:spPr/>
      <dgm:t>
        <a:bodyPr/>
        <a:lstStyle/>
        <a:p>
          <a:endParaRPr lang="en-US"/>
        </a:p>
      </dgm:t>
    </dgm:pt>
    <dgm:pt modelId="{BBFF7A9B-D048-4F86-A220-AF75308A9AFA}" type="sibTrans" cxnId="{4C8138F0-CD72-4BB4-9979-C89FEBAF09C0}">
      <dgm:prSet/>
      <dgm:spPr/>
      <dgm:t>
        <a:bodyPr/>
        <a:lstStyle/>
        <a:p>
          <a:endParaRPr lang="en-US"/>
        </a:p>
      </dgm:t>
    </dgm:pt>
    <dgm:pt modelId="{7D6C57C5-A635-4046-8A35-6FFC9A525254}">
      <dgm:prSet/>
      <dgm:spPr/>
      <dgm:t>
        <a:bodyPr/>
        <a:lstStyle/>
        <a:p>
          <a:r>
            <a:rPr lang="en-US" b="0" i="0" baseline="0"/>
            <a:t>These three themes form the foundation for understanding coordination across all domains discussed in the paper.</a:t>
          </a:r>
          <a:endParaRPr lang="en-US"/>
        </a:p>
      </dgm:t>
    </dgm:pt>
    <dgm:pt modelId="{2F0C92D0-E8ED-492B-A3CC-A01DD519F663}" type="parTrans" cxnId="{2C8B09ED-292B-404B-82EC-AAC0187E457E}">
      <dgm:prSet/>
      <dgm:spPr/>
      <dgm:t>
        <a:bodyPr/>
        <a:lstStyle/>
        <a:p>
          <a:endParaRPr lang="en-US"/>
        </a:p>
      </dgm:t>
    </dgm:pt>
    <dgm:pt modelId="{D6A13A07-B048-4123-8E85-18BA69600B0D}" type="sibTrans" cxnId="{2C8B09ED-292B-404B-82EC-AAC0187E457E}">
      <dgm:prSet/>
      <dgm:spPr/>
      <dgm:t>
        <a:bodyPr/>
        <a:lstStyle/>
        <a:p>
          <a:endParaRPr lang="en-US"/>
        </a:p>
      </dgm:t>
    </dgm:pt>
    <dgm:pt modelId="{DFF450A1-A3A4-4493-B875-80BC9BDAD222}" type="pres">
      <dgm:prSet presAssocID="{534EEB77-F163-4F51-AFF3-26B069DC5227}" presName="outerComposite" presStyleCnt="0">
        <dgm:presLayoutVars>
          <dgm:chMax val="5"/>
          <dgm:dir/>
          <dgm:resizeHandles val="exact"/>
        </dgm:presLayoutVars>
      </dgm:prSet>
      <dgm:spPr/>
    </dgm:pt>
    <dgm:pt modelId="{ACD3DAA3-7549-493E-BCAF-C5AC0C0A900C}" type="pres">
      <dgm:prSet presAssocID="{534EEB77-F163-4F51-AFF3-26B069DC5227}" presName="dummyMaxCanvas" presStyleCnt="0">
        <dgm:presLayoutVars/>
      </dgm:prSet>
      <dgm:spPr/>
    </dgm:pt>
    <dgm:pt modelId="{EDF8251F-AA95-4D96-84C2-C695C0A26D42}" type="pres">
      <dgm:prSet presAssocID="{534EEB77-F163-4F51-AFF3-26B069DC5227}" presName="FiveNodes_1" presStyleLbl="node1" presStyleIdx="0" presStyleCnt="5">
        <dgm:presLayoutVars>
          <dgm:bulletEnabled val="1"/>
        </dgm:presLayoutVars>
      </dgm:prSet>
      <dgm:spPr/>
    </dgm:pt>
    <dgm:pt modelId="{ED67ABE0-9E2C-4C68-AEA9-F8A2440D61CB}" type="pres">
      <dgm:prSet presAssocID="{534EEB77-F163-4F51-AFF3-26B069DC5227}" presName="FiveNodes_2" presStyleLbl="node1" presStyleIdx="1" presStyleCnt="5">
        <dgm:presLayoutVars>
          <dgm:bulletEnabled val="1"/>
        </dgm:presLayoutVars>
      </dgm:prSet>
      <dgm:spPr/>
    </dgm:pt>
    <dgm:pt modelId="{8719805D-9F3D-4670-B101-61E34DE5751B}" type="pres">
      <dgm:prSet presAssocID="{534EEB77-F163-4F51-AFF3-26B069DC5227}" presName="FiveNodes_3" presStyleLbl="node1" presStyleIdx="2" presStyleCnt="5">
        <dgm:presLayoutVars>
          <dgm:bulletEnabled val="1"/>
        </dgm:presLayoutVars>
      </dgm:prSet>
      <dgm:spPr/>
    </dgm:pt>
    <dgm:pt modelId="{DC1BF8F6-86C7-454E-9DF9-52CF79557E64}" type="pres">
      <dgm:prSet presAssocID="{534EEB77-F163-4F51-AFF3-26B069DC5227}" presName="FiveNodes_4" presStyleLbl="node1" presStyleIdx="3" presStyleCnt="5">
        <dgm:presLayoutVars>
          <dgm:bulletEnabled val="1"/>
        </dgm:presLayoutVars>
      </dgm:prSet>
      <dgm:spPr/>
    </dgm:pt>
    <dgm:pt modelId="{472CE4E9-FB61-428C-9B28-9DCDD5E710BE}" type="pres">
      <dgm:prSet presAssocID="{534EEB77-F163-4F51-AFF3-26B069DC5227}" presName="FiveNodes_5" presStyleLbl="node1" presStyleIdx="4" presStyleCnt="5">
        <dgm:presLayoutVars>
          <dgm:bulletEnabled val="1"/>
        </dgm:presLayoutVars>
      </dgm:prSet>
      <dgm:spPr/>
    </dgm:pt>
    <dgm:pt modelId="{6EB46C56-89F9-43A7-9833-DF7FE867E1F6}" type="pres">
      <dgm:prSet presAssocID="{534EEB77-F163-4F51-AFF3-26B069DC5227}" presName="FiveConn_1-2" presStyleLbl="fgAccFollowNode1" presStyleIdx="0" presStyleCnt="4">
        <dgm:presLayoutVars>
          <dgm:bulletEnabled val="1"/>
        </dgm:presLayoutVars>
      </dgm:prSet>
      <dgm:spPr/>
    </dgm:pt>
    <dgm:pt modelId="{AD30A13E-95BA-4A6A-836E-1BC9603B1C7D}" type="pres">
      <dgm:prSet presAssocID="{534EEB77-F163-4F51-AFF3-26B069DC5227}" presName="FiveConn_2-3" presStyleLbl="fgAccFollowNode1" presStyleIdx="1" presStyleCnt="4">
        <dgm:presLayoutVars>
          <dgm:bulletEnabled val="1"/>
        </dgm:presLayoutVars>
      </dgm:prSet>
      <dgm:spPr/>
    </dgm:pt>
    <dgm:pt modelId="{FC874343-C61F-48E3-B02C-78F43704D66E}" type="pres">
      <dgm:prSet presAssocID="{534EEB77-F163-4F51-AFF3-26B069DC5227}" presName="FiveConn_3-4" presStyleLbl="fgAccFollowNode1" presStyleIdx="2" presStyleCnt="4">
        <dgm:presLayoutVars>
          <dgm:bulletEnabled val="1"/>
        </dgm:presLayoutVars>
      </dgm:prSet>
      <dgm:spPr/>
    </dgm:pt>
    <dgm:pt modelId="{34B57CDF-B6B7-4D51-8EC7-24B0E2FEFA3D}" type="pres">
      <dgm:prSet presAssocID="{534EEB77-F163-4F51-AFF3-26B069DC5227}" presName="FiveConn_4-5" presStyleLbl="fgAccFollowNode1" presStyleIdx="3" presStyleCnt="4">
        <dgm:presLayoutVars>
          <dgm:bulletEnabled val="1"/>
        </dgm:presLayoutVars>
      </dgm:prSet>
      <dgm:spPr/>
    </dgm:pt>
    <dgm:pt modelId="{63FF59B6-0003-4467-979F-8BF0B561ACCE}" type="pres">
      <dgm:prSet presAssocID="{534EEB77-F163-4F51-AFF3-26B069DC5227}" presName="FiveNodes_1_text" presStyleLbl="node1" presStyleIdx="4" presStyleCnt="5">
        <dgm:presLayoutVars>
          <dgm:bulletEnabled val="1"/>
        </dgm:presLayoutVars>
      </dgm:prSet>
      <dgm:spPr/>
    </dgm:pt>
    <dgm:pt modelId="{B960FC01-9823-48C3-B7E8-B761D3065BAB}" type="pres">
      <dgm:prSet presAssocID="{534EEB77-F163-4F51-AFF3-26B069DC5227}" presName="FiveNodes_2_text" presStyleLbl="node1" presStyleIdx="4" presStyleCnt="5">
        <dgm:presLayoutVars>
          <dgm:bulletEnabled val="1"/>
        </dgm:presLayoutVars>
      </dgm:prSet>
      <dgm:spPr/>
    </dgm:pt>
    <dgm:pt modelId="{DDBD7BF5-F77B-4E2F-A9B5-28215753A0B6}" type="pres">
      <dgm:prSet presAssocID="{534EEB77-F163-4F51-AFF3-26B069DC5227}" presName="FiveNodes_3_text" presStyleLbl="node1" presStyleIdx="4" presStyleCnt="5">
        <dgm:presLayoutVars>
          <dgm:bulletEnabled val="1"/>
        </dgm:presLayoutVars>
      </dgm:prSet>
      <dgm:spPr/>
    </dgm:pt>
    <dgm:pt modelId="{F24318EE-D728-47B2-B4BF-07C90958378F}" type="pres">
      <dgm:prSet presAssocID="{534EEB77-F163-4F51-AFF3-26B069DC5227}" presName="FiveNodes_4_text" presStyleLbl="node1" presStyleIdx="4" presStyleCnt="5">
        <dgm:presLayoutVars>
          <dgm:bulletEnabled val="1"/>
        </dgm:presLayoutVars>
      </dgm:prSet>
      <dgm:spPr/>
    </dgm:pt>
    <dgm:pt modelId="{A58A1A55-FC6F-4CA6-94B5-397FC28DEF49}" type="pres">
      <dgm:prSet presAssocID="{534EEB77-F163-4F51-AFF3-26B069DC5227}" presName="FiveNodes_5_text" presStyleLbl="node1" presStyleIdx="4" presStyleCnt="5">
        <dgm:presLayoutVars>
          <dgm:bulletEnabled val="1"/>
        </dgm:presLayoutVars>
      </dgm:prSet>
      <dgm:spPr/>
    </dgm:pt>
  </dgm:ptLst>
  <dgm:cxnLst>
    <dgm:cxn modelId="{8AF87000-D16B-435B-91C5-0CCCC013E59B}" srcId="{534EEB77-F163-4F51-AFF3-26B069DC5227}" destId="{A6277F1E-B4E8-414A-B59C-D6CA87A459ED}" srcOrd="2" destOrd="0" parTransId="{9389F7C6-2B74-48C8-AA0D-68067E421C2E}" sibTransId="{F58909B9-EDB9-4424-A5F5-33D172DB5F89}"/>
    <dgm:cxn modelId="{22393339-B72D-400B-8CC6-071D18080234}" type="presOf" srcId="{7D6C57C5-A635-4046-8A35-6FFC9A525254}" destId="{A58A1A55-FC6F-4CA6-94B5-397FC28DEF49}" srcOrd="1" destOrd="0" presId="urn:microsoft.com/office/officeart/2005/8/layout/vProcess5"/>
    <dgm:cxn modelId="{55CFD24A-F6E2-4BA4-B81A-9F4BDAAD255B}" type="presOf" srcId="{A6277F1E-B4E8-414A-B59C-D6CA87A459ED}" destId="{8719805D-9F3D-4670-B101-61E34DE5751B}" srcOrd="0" destOrd="0" presId="urn:microsoft.com/office/officeart/2005/8/layout/vProcess5"/>
    <dgm:cxn modelId="{92F0316F-27E2-4E9F-8735-B28E3597928E}" type="presOf" srcId="{534EEB77-F163-4F51-AFF3-26B069DC5227}" destId="{DFF450A1-A3A4-4493-B875-80BC9BDAD222}" srcOrd="0" destOrd="0" presId="urn:microsoft.com/office/officeart/2005/8/layout/vProcess5"/>
    <dgm:cxn modelId="{B17B8B70-B015-4BE2-A105-02C26B4900B9}" type="presOf" srcId="{24AB0887-C261-46A9-AE68-7A30991522E2}" destId="{AD30A13E-95BA-4A6A-836E-1BC9603B1C7D}" srcOrd="0" destOrd="0" presId="urn:microsoft.com/office/officeart/2005/8/layout/vProcess5"/>
    <dgm:cxn modelId="{93824171-6921-4122-B2EB-9EB5C60CE316}" type="presOf" srcId="{15EA9813-224D-4BFA-B243-A093FB01D421}" destId="{B960FC01-9823-48C3-B7E8-B761D3065BAB}" srcOrd="1" destOrd="0" presId="urn:microsoft.com/office/officeart/2005/8/layout/vProcess5"/>
    <dgm:cxn modelId="{3D503388-2A55-481B-A337-5B853DB6F2E4}" type="presOf" srcId="{E5ADF12D-1DB2-4AD3-9291-CADF9130CEB1}" destId="{EDF8251F-AA95-4D96-84C2-C695C0A26D42}" srcOrd="0" destOrd="0" presId="urn:microsoft.com/office/officeart/2005/8/layout/vProcess5"/>
    <dgm:cxn modelId="{710D7693-63A9-4818-B53F-0792DCDECB5A}" type="presOf" srcId="{15EA9813-224D-4BFA-B243-A093FB01D421}" destId="{ED67ABE0-9E2C-4C68-AEA9-F8A2440D61CB}" srcOrd="0" destOrd="0" presId="urn:microsoft.com/office/officeart/2005/8/layout/vProcess5"/>
    <dgm:cxn modelId="{005DE999-2E5A-49E8-9CB6-995267F71732}" srcId="{534EEB77-F163-4F51-AFF3-26B069DC5227}" destId="{15EA9813-224D-4BFA-B243-A093FB01D421}" srcOrd="1" destOrd="0" parTransId="{1F69B13B-772D-4107-A729-D86C2BD8A44D}" sibTransId="{24AB0887-C261-46A9-AE68-7A30991522E2}"/>
    <dgm:cxn modelId="{243571AE-DA89-4A42-A965-94F8CCECDB2F}" type="presOf" srcId="{BBFF7A9B-D048-4F86-A220-AF75308A9AFA}" destId="{34B57CDF-B6B7-4D51-8EC7-24B0E2FEFA3D}" srcOrd="0" destOrd="0" presId="urn:microsoft.com/office/officeart/2005/8/layout/vProcess5"/>
    <dgm:cxn modelId="{B253D5B4-47D1-4DD0-82BC-9C85639D846E}" srcId="{534EEB77-F163-4F51-AFF3-26B069DC5227}" destId="{E5ADF12D-1DB2-4AD3-9291-CADF9130CEB1}" srcOrd="0" destOrd="0" parTransId="{C59149CA-214C-401B-8D88-919BC7F3EE21}" sibTransId="{206AE164-7298-4DD6-8618-88B716130809}"/>
    <dgm:cxn modelId="{ED14B5B6-AA80-4237-8B57-97C54FF20F4F}" type="presOf" srcId="{EAD640AF-5B53-46D6-9A03-945119C5D076}" destId="{F24318EE-D728-47B2-B4BF-07C90958378F}" srcOrd="1" destOrd="0" presId="urn:microsoft.com/office/officeart/2005/8/layout/vProcess5"/>
    <dgm:cxn modelId="{05A655C0-A95C-4C90-8F3E-20366FFEDF6B}" type="presOf" srcId="{F58909B9-EDB9-4424-A5F5-33D172DB5F89}" destId="{FC874343-C61F-48E3-B02C-78F43704D66E}" srcOrd="0" destOrd="0" presId="urn:microsoft.com/office/officeart/2005/8/layout/vProcess5"/>
    <dgm:cxn modelId="{1CF58DC0-93B1-4BCB-8886-CE334DD9DB6E}" type="presOf" srcId="{206AE164-7298-4DD6-8618-88B716130809}" destId="{6EB46C56-89F9-43A7-9833-DF7FE867E1F6}" srcOrd="0" destOrd="0" presId="urn:microsoft.com/office/officeart/2005/8/layout/vProcess5"/>
    <dgm:cxn modelId="{A1CCA2D1-D19E-482E-8994-1492566EDA9C}" type="presOf" srcId="{A6277F1E-B4E8-414A-B59C-D6CA87A459ED}" destId="{DDBD7BF5-F77B-4E2F-A9B5-28215753A0B6}" srcOrd="1" destOrd="0" presId="urn:microsoft.com/office/officeart/2005/8/layout/vProcess5"/>
    <dgm:cxn modelId="{CA6644D3-ECEE-414C-9D7E-94C47472083A}" type="presOf" srcId="{EAD640AF-5B53-46D6-9A03-945119C5D076}" destId="{DC1BF8F6-86C7-454E-9DF9-52CF79557E64}" srcOrd="0" destOrd="0" presId="urn:microsoft.com/office/officeart/2005/8/layout/vProcess5"/>
    <dgm:cxn modelId="{863348E1-FC51-4B5C-88F6-5B25B133DC2B}" type="presOf" srcId="{E5ADF12D-1DB2-4AD3-9291-CADF9130CEB1}" destId="{63FF59B6-0003-4467-979F-8BF0B561ACCE}" srcOrd="1" destOrd="0" presId="urn:microsoft.com/office/officeart/2005/8/layout/vProcess5"/>
    <dgm:cxn modelId="{DC439AE5-2505-4F11-B507-BCBB22FA69DD}" type="presOf" srcId="{7D6C57C5-A635-4046-8A35-6FFC9A525254}" destId="{472CE4E9-FB61-428C-9B28-9DCDD5E710BE}" srcOrd="0" destOrd="0" presId="urn:microsoft.com/office/officeart/2005/8/layout/vProcess5"/>
    <dgm:cxn modelId="{2C8B09ED-292B-404B-82EC-AAC0187E457E}" srcId="{534EEB77-F163-4F51-AFF3-26B069DC5227}" destId="{7D6C57C5-A635-4046-8A35-6FFC9A525254}" srcOrd="4" destOrd="0" parTransId="{2F0C92D0-E8ED-492B-A3CC-A01DD519F663}" sibTransId="{D6A13A07-B048-4123-8E85-18BA69600B0D}"/>
    <dgm:cxn modelId="{4C8138F0-CD72-4BB4-9979-C89FEBAF09C0}" srcId="{534EEB77-F163-4F51-AFF3-26B069DC5227}" destId="{EAD640AF-5B53-46D6-9A03-945119C5D076}" srcOrd="3" destOrd="0" parTransId="{A0EFB558-7AA4-4A3C-85B2-14E132372368}" sibTransId="{BBFF7A9B-D048-4F86-A220-AF75308A9AFA}"/>
    <dgm:cxn modelId="{F262D172-7F41-457A-B199-DE86396211DB}" type="presParOf" srcId="{DFF450A1-A3A4-4493-B875-80BC9BDAD222}" destId="{ACD3DAA3-7549-493E-BCAF-C5AC0C0A900C}" srcOrd="0" destOrd="0" presId="urn:microsoft.com/office/officeart/2005/8/layout/vProcess5"/>
    <dgm:cxn modelId="{CB5871E3-504F-454A-AC25-BBC870CD36E6}" type="presParOf" srcId="{DFF450A1-A3A4-4493-B875-80BC9BDAD222}" destId="{EDF8251F-AA95-4D96-84C2-C695C0A26D42}" srcOrd="1" destOrd="0" presId="urn:microsoft.com/office/officeart/2005/8/layout/vProcess5"/>
    <dgm:cxn modelId="{864DE77B-358F-4DC1-9BCC-91AAA5DF9A46}" type="presParOf" srcId="{DFF450A1-A3A4-4493-B875-80BC9BDAD222}" destId="{ED67ABE0-9E2C-4C68-AEA9-F8A2440D61CB}" srcOrd="2" destOrd="0" presId="urn:microsoft.com/office/officeart/2005/8/layout/vProcess5"/>
    <dgm:cxn modelId="{D1DEDB74-E9B8-493A-930F-168D8B69B1A5}" type="presParOf" srcId="{DFF450A1-A3A4-4493-B875-80BC9BDAD222}" destId="{8719805D-9F3D-4670-B101-61E34DE5751B}" srcOrd="3" destOrd="0" presId="urn:microsoft.com/office/officeart/2005/8/layout/vProcess5"/>
    <dgm:cxn modelId="{D73912B5-5888-4E60-B164-EE2005858075}" type="presParOf" srcId="{DFF450A1-A3A4-4493-B875-80BC9BDAD222}" destId="{DC1BF8F6-86C7-454E-9DF9-52CF79557E64}" srcOrd="4" destOrd="0" presId="urn:microsoft.com/office/officeart/2005/8/layout/vProcess5"/>
    <dgm:cxn modelId="{CFF734B3-D1CE-4FF4-B456-5E544232F677}" type="presParOf" srcId="{DFF450A1-A3A4-4493-B875-80BC9BDAD222}" destId="{472CE4E9-FB61-428C-9B28-9DCDD5E710BE}" srcOrd="5" destOrd="0" presId="urn:microsoft.com/office/officeart/2005/8/layout/vProcess5"/>
    <dgm:cxn modelId="{9BEDBB78-2C1E-41E8-81E3-80F3A897AC85}" type="presParOf" srcId="{DFF450A1-A3A4-4493-B875-80BC9BDAD222}" destId="{6EB46C56-89F9-43A7-9833-DF7FE867E1F6}" srcOrd="6" destOrd="0" presId="urn:microsoft.com/office/officeart/2005/8/layout/vProcess5"/>
    <dgm:cxn modelId="{588B087F-1B4A-46B2-8EC8-C4BEB3567AB2}" type="presParOf" srcId="{DFF450A1-A3A4-4493-B875-80BC9BDAD222}" destId="{AD30A13E-95BA-4A6A-836E-1BC9603B1C7D}" srcOrd="7" destOrd="0" presId="urn:microsoft.com/office/officeart/2005/8/layout/vProcess5"/>
    <dgm:cxn modelId="{41776E8A-1E04-4E3D-82CB-E6FF52BFC259}" type="presParOf" srcId="{DFF450A1-A3A4-4493-B875-80BC9BDAD222}" destId="{FC874343-C61F-48E3-B02C-78F43704D66E}" srcOrd="8" destOrd="0" presId="urn:microsoft.com/office/officeart/2005/8/layout/vProcess5"/>
    <dgm:cxn modelId="{51D9B7ED-C462-458A-AA8D-304600FD3AC4}" type="presParOf" srcId="{DFF450A1-A3A4-4493-B875-80BC9BDAD222}" destId="{34B57CDF-B6B7-4D51-8EC7-24B0E2FEFA3D}" srcOrd="9" destOrd="0" presId="urn:microsoft.com/office/officeart/2005/8/layout/vProcess5"/>
    <dgm:cxn modelId="{DA4AEAF3-5EBB-42B9-A5DC-2E21807E4023}" type="presParOf" srcId="{DFF450A1-A3A4-4493-B875-80BC9BDAD222}" destId="{63FF59B6-0003-4467-979F-8BF0B561ACCE}" srcOrd="10" destOrd="0" presId="urn:microsoft.com/office/officeart/2005/8/layout/vProcess5"/>
    <dgm:cxn modelId="{A9BB731A-4D16-49D2-8410-CC68643F1B94}" type="presParOf" srcId="{DFF450A1-A3A4-4493-B875-80BC9BDAD222}" destId="{B960FC01-9823-48C3-B7E8-B761D3065BAB}" srcOrd="11" destOrd="0" presId="urn:microsoft.com/office/officeart/2005/8/layout/vProcess5"/>
    <dgm:cxn modelId="{C0B844D5-544C-4785-8617-444A07820723}" type="presParOf" srcId="{DFF450A1-A3A4-4493-B875-80BC9BDAD222}" destId="{DDBD7BF5-F77B-4E2F-A9B5-28215753A0B6}" srcOrd="12" destOrd="0" presId="urn:microsoft.com/office/officeart/2005/8/layout/vProcess5"/>
    <dgm:cxn modelId="{F0147F68-42A1-4180-8CA6-769BF6595366}" type="presParOf" srcId="{DFF450A1-A3A4-4493-B875-80BC9BDAD222}" destId="{F24318EE-D728-47B2-B4BF-07C90958378F}" srcOrd="13" destOrd="0" presId="urn:microsoft.com/office/officeart/2005/8/layout/vProcess5"/>
    <dgm:cxn modelId="{6B9F23B6-8845-4200-BBB4-747AE547EF4C}" type="presParOf" srcId="{DFF450A1-A3A4-4493-B875-80BC9BDAD222}" destId="{A58A1A55-FC6F-4CA6-94B5-397FC28DEF49}"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74625E7-786C-4D59-B7A9-C371C060698A}" type="doc">
      <dgm:prSet loTypeId="urn:microsoft.com/office/officeart/2005/8/layout/cycle1" loCatId="cycle" qsTypeId="urn:microsoft.com/office/officeart/2005/8/quickstyle/simple1" qsCatId="simple" csTypeId="urn:microsoft.com/office/officeart/2005/8/colors/colorful1" csCatId="colorful"/>
      <dgm:spPr/>
      <dgm:t>
        <a:bodyPr/>
        <a:lstStyle/>
        <a:p>
          <a:endParaRPr lang="en-US"/>
        </a:p>
      </dgm:t>
    </dgm:pt>
    <dgm:pt modelId="{41A7F0DA-C228-4F48-856E-D23E6251C7C2}">
      <dgm:prSet/>
      <dgm:spPr/>
      <dgm:t>
        <a:bodyPr/>
        <a:lstStyle/>
        <a:p>
          <a:r>
            <a:rPr lang="en-US" b="0" i="0" baseline="0"/>
            <a:t>Satellite constellations act as </a:t>
          </a:r>
          <a:r>
            <a:rPr lang="en-US" b="1" i="0" baseline="0"/>
            <a:t>multi-agent systems</a:t>
          </a:r>
          <a:r>
            <a:rPr lang="en-US" b="0" i="0" baseline="0"/>
            <a:t> coordinating orbits and coverage.</a:t>
          </a:r>
          <a:endParaRPr lang="en-US"/>
        </a:p>
      </dgm:t>
    </dgm:pt>
    <dgm:pt modelId="{6A92B1FD-EBF9-4394-B1BA-BE093167551C}" type="parTrans" cxnId="{6E887CA3-2D68-42C8-9BE1-C15526974CF6}">
      <dgm:prSet/>
      <dgm:spPr/>
      <dgm:t>
        <a:bodyPr/>
        <a:lstStyle/>
        <a:p>
          <a:endParaRPr lang="en-US"/>
        </a:p>
      </dgm:t>
    </dgm:pt>
    <dgm:pt modelId="{D753E53B-C37D-4C25-B13B-015C1D03F429}" type="sibTrans" cxnId="{6E887CA3-2D68-42C8-9BE1-C15526974CF6}">
      <dgm:prSet/>
      <dgm:spPr/>
      <dgm:t>
        <a:bodyPr/>
        <a:lstStyle/>
        <a:p>
          <a:endParaRPr lang="en-US"/>
        </a:p>
      </dgm:t>
    </dgm:pt>
    <dgm:pt modelId="{14B6B97F-176A-4563-BC38-4BDF27C70727}">
      <dgm:prSet/>
      <dgm:spPr/>
      <dgm:t>
        <a:bodyPr/>
        <a:lstStyle/>
        <a:p>
          <a:r>
            <a:rPr lang="en-US" b="0" i="0" baseline="0"/>
            <a:t>Small-satellite swarms aim to be </a:t>
          </a:r>
          <a:r>
            <a:rPr lang="en-US" b="1" i="0" baseline="0"/>
            <a:t>self-organizing</a:t>
          </a:r>
          <a:r>
            <a:rPr lang="en-US" b="0" i="0" baseline="0"/>
            <a:t> and robust.</a:t>
          </a:r>
          <a:endParaRPr lang="en-US"/>
        </a:p>
      </dgm:t>
    </dgm:pt>
    <dgm:pt modelId="{CCA90E19-EE8C-4FE9-B55D-68357A2E0538}" type="parTrans" cxnId="{A15318CE-3FA2-42D0-AC87-AF206F837C08}">
      <dgm:prSet/>
      <dgm:spPr/>
      <dgm:t>
        <a:bodyPr/>
        <a:lstStyle/>
        <a:p>
          <a:endParaRPr lang="en-US"/>
        </a:p>
      </dgm:t>
    </dgm:pt>
    <dgm:pt modelId="{4B6270CA-DBB1-45A2-930D-A2861C3039A9}" type="sibTrans" cxnId="{A15318CE-3FA2-42D0-AC87-AF206F837C08}">
      <dgm:prSet/>
      <dgm:spPr/>
      <dgm:t>
        <a:bodyPr/>
        <a:lstStyle/>
        <a:p>
          <a:endParaRPr lang="en-US"/>
        </a:p>
      </dgm:t>
    </dgm:pt>
    <dgm:pt modelId="{A8EA2CE2-24BF-40B0-B848-67FB02DB0AE9}">
      <dgm:prSet/>
      <dgm:spPr/>
      <dgm:t>
        <a:bodyPr/>
        <a:lstStyle/>
        <a:p>
          <a:r>
            <a:rPr lang="en-US" b="0" i="0" baseline="0"/>
            <a:t>Main challenges:</a:t>
          </a:r>
          <a:br>
            <a:rPr lang="en-US" b="0" i="0" baseline="0"/>
          </a:br>
          <a:r>
            <a:rPr lang="en-US" b="1" i="0" baseline="0"/>
            <a:t>• Orbit design</a:t>
          </a:r>
          <a:br>
            <a:rPr lang="en-US" b="0" i="0" baseline="0"/>
          </a:br>
          <a:r>
            <a:rPr lang="en-US" b="1" i="0" baseline="0"/>
            <a:t>• Task/beam scheduling</a:t>
          </a:r>
          <a:br>
            <a:rPr lang="en-US" b="0" i="0" baseline="0"/>
          </a:br>
          <a:r>
            <a:rPr lang="en-US" b="1" i="0" baseline="0"/>
            <a:t>• Data routing in dynamic space networks</a:t>
          </a:r>
          <a:endParaRPr lang="en-US"/>
        </a:p>
      </dgm:t>
    </dgm:pt>
    <dgm:pt modelId="{A28C691E-F0BC-48D1-B1B8-6B1F7E8A4AD0}" type="parTrans" cxnId="{C9696626-4BCB-4D34-9196-994AB98EB509}">
      <dgm:prSet/>
      <dgm:spPr/>
      <dgm:t>
        <a:bodyPr/>
        <a:lstStyle/>
        <a:p>
          <a:endParaRPr lang="en-US"/>
        </a:p>
      </dgm:t>
    </dgm:pt>
    <dgm:pt modelId="{EF92A150-F0FE-457B-8ED0-5B7F3658DBC9}" type="sibTrans" cxnId="{C9696626-4BCB-4D34-9196-994AB98EB509}">
      <dgm:prSet/>
      <dgm:spPr/>
      <dgm:t>
        <a:bodyPr/>
        <a:lstStyle/>
        <a:p>
          <a:endParaRPr lang="en-US"/>
        </a:p>
      </dgm:t>
    </dgm:pt>
    <dgm:pt modelId="{2C69BEFF-CBC4-4A75-8A4E-8D1A2356C79F}">
      <dgm:prSet/>
      <dgm:spPr/>
      <dgm:t>
        <a:bodyPr/>
        <a:lstStyle/>
        <a:p>
          <a:r>
            <a:rPr lang="en-US" b="0" i="0" baseline="0" dirty="0"/>
            <a:t>Centralized control is not enough — systems rely on </a:t>
          </a:r>
          <a:r>
            <a:rPr lang="en-US" b="1" i="0" baseline="0" dirty="0"/>
            <a:t>distributed + hierarchical coordination</a:t>
          </a:r>
          <a:r>
            <a:rPr lang="en-US" b="0" i="0" baseline="0" dirty="0"/>
            <a:t> for scalability and robustness.</a:t>
          </a:r>
          <a:endParaRPr lang="en-US" dirty="0"/>
        </a:p>
      </dgm:t>
    </dgm:pt>
    <dgm:pt modelId="{B3FCF73A-3B26-48A1-92E3-C6421683C49E}" type="parTrans" cxnId="{9F6ECB32-1242-423A-977C-D9BFCDFC568E}">
      <dgm:prSet/>
      <dgm:spPr/>
      <dgm:t>
        <a:bodyPr/>
        <a:lstStyle/>
        <a:p>
          <a:endParaRPr lang="en-US"/>
        </a:p>
      </dgm:t>
    </dgm:pt>
    <dgm:pt modelId="{1FF1AD9C-0A2B-44BA-8A15-8126DEE4E9BE}" type="sibTrans" cxnId="{9F6ECB32-1242-423A-977C-D9BFCDFC568E}">
      <dgm:prSet/>
      <dgm:spPr/>
      <dgm:t>
        <a:bodyPr/>
        <a:lstStyle/>
        <a:p>
          <a:endParaRPr lang="en-US"/>
        </a:p>
      </dgm:t>
    </dgm:pt>
    <dgm:pt modelId="{8371A639-66F4-4970-86B6-B94081416597}" type="pres">
      <dgm:prSet presAssocID="{274625E7-786C-4D59-B7A9-C371C060698A}" presName="cycle" presStyleCnt="0">
        <dgm:presLayoutVars>
          <dgm:dir/>
          <dgm:resizeHandles val="exact"/>
        </dgm:presLayoutVars>
      </dgm:prSet>
      <dgm:spPr/>
    </dgm:pt>
    <dgm:pt modelId="{A9DECC27-50BD-4ED2-A320-C7FA8801A33A}" type="pres">
      <dgm:prSet presAssocID="{41A7F0DA-C228-4F48-856E-D23E6251C7C2}" presName="dummy" presStyleCnt="0"/>
      <dgm:spPr/>
    </dgm:pt>
    <dgm:pt modelId="{3A237336-E1AA-4E15-96D9-33F8C1F093F6}" type="pres">
      <dgm:prSet presAssocID="{41A7F0DA-C228-4F48-856E-D23E6251C7C2}" presName="node" presStyleLbl="revTx" presStyleIdx="0" presStyleCnt="4">
        <dgm:presLayoutVars>
          <dgm:bulletEnabled val="1"/>
        </dgm:presLayoutVars>
      </dgm:prSet>
      <dgm:spPr/>
    </dgm:pt>
    <dgm:pt modelId="{9C1F79AB-AFF1-46D8-8FD3-9952A3FD1B78}" type="pres">
      <dgm:prSet presAssocID="{D753E53B-C37D-4C25-B13B-015C1D03F429}" presName="sibTrans" presStyleLbl="node1" presStyleIdx="0" presStyleCnt="4"/>
      <dgm:spPr/>
    </dgm:pt>
    <dgm:pt modelId="{99591BFA-5531-4DD1-B98B-A415A61FD268}" type="pres">
      <dgm:prSet presAssocID="{14B6B97F-176A-4563-BC38-4BDF27C70727}" presName="dummy" presStyleCnt="0"/>
      <dgm:spPr/>
    </dgm:pt>
    <dgm:pt modelId="{A67E1B6F-C5D1-446E-AC95-4331384697FD}" type="pres">
      <dgm:prSet presAssocID="{14B6B97F-176A-4563-BC38-4BDF27C70727}" presName="node" presStyleLbl="revTx" presStyleIdx="1" presStyleCnt="4">
        <dgm:presLayoutVars>
          <dgm:bulletEnabled val="1"/>
        </dgm:presLayoutVars>
      </dgm:prSet>
      <dgm:spPr/>
    </dgm:pt>
    <dgm:pt modelId="{FF9FCBD0-39BC-440F-AD99-39058E71048B}" type="pres">
      <dgm:prSet presAssocID="{4B6270CA-DBB1-45A2-930D-A2861C3039A9}" presName="sibTrans" presStyleLbl="node1" presStyleIdx="1" presStyleCnt="4"/>
      <dgm:spPr/>
    </dgm:pt>
    <dgm:pt modelId="{DF0E826E-F949-4FAD-B8C1-7314E39D1705}" type="pres">
      <dgm:prSet presAssocID="{A8EA2CE2-24BF-40B0-B848-67FB02DB0AE9}" presName="dummy" presStyleCnt="0"/>
      <dgm:spPr/>
    </dgm:pt>
    <dgm:pt modelId="{B166579E-7761-495A-859B-1CBC4454D387}" type="pres">
      <dgm:prSet presAssocID="{A8EA2CE2-24BF-40B0-B848-67FB02DB0AE9}" presName="node" presStyleLbl="revTx" presStyleIdx="2" presStyleCnt="4">
        <dgm:presLayoutVars>
          <dgm:bulletEnabled val="1"/>
        </dgm:presLayoutVars>
      </dgm:prSet>
      <dgm:spPr/>
    </dgm:pt>
    <dgm:pt modelId="{6FD76740-021A-4EA8-BA0A-9A409CA06C01}" type="pres">
      <dgm:prSet presAssocID="{EF92A150-F0FE-457B-8ED0-5B7F3658DBC9}" presName="sibTrans" presStyleLbl="node1" presStyleIdx="2" presStyleCnt="4"/>
      <dgm:spPr/>
    </dgm:pt>
    <dgm:pt modelId="{6C71FE6B-D35D-446B-9037-B36F8F0A5E58}" type="pres">
      <dgm:prSet presAssocID="{2C69BEFF-CBC4-4A75-8A4E-8D1A2356C79F}" presName="dummy" presStyleCnt="0"/>
      <dgm:spPr/>
    </dgm:pt>
    <dgm:pt modelId="{29D01F68-B774-47A6-9A91-8D32EDB30433}" type="pres">
      <dgm:prSet presAssocID="{2C69BEFF-CBC4-4A75-8A4E-8D1A2356C79F}" presName="node" presStyleLbl="revTx" presStyleIdx="3" presStyleCnt="4">
        <dgm:presLayoutVars>
          <dgm:bulletEnabled val="1"/>
        </dgm:presLayoutVars>
      </dgm:prSet>
      <dgm:spPr/>
    </dgm:pt>
    <dgm:pt modelId="{FE64CB0C-B109-424D-9F0D-5EE971893FE8}" type="pres">
      <dgm:prSet presAssocID="{1FF1AD9C-0A2B-44BA-8A15-8126DEE4E9BE}" presName="sibTrans" presStyleLbl="node1" presStyleIdx="3" presStyleCnt="4"/>
      <dgm:spPr/>
    </dgm:pt>
  </dgm:ptLst>
  <dgm:cxnLst>
    <dgm:cxn modelId="{C9696626-4BCB-4D34-9196-994AB98EB509}" srcId="{274625E7-786C-4D59-B7A9-C371C060698A}" destId="{A8EA2CE2-24BF-40B0-B848-67FB02DB0AE9}" srcOrd="2" destOrd="0" parTransId="{A28C691E-F0BC-48D1-B1B8-6B1F7E8A4AD0}" sibTransId="{EF92A150-F0FE-457B-8ED0-5B7F3658DBC9}"/>
    <dgm:cxn modelId="{9F6ECB32-1242-423A-977C-D9BFCDFC568E}" srcId="{274625E7-786C-4D59-B7A9-C371C060698A}" destId="{2C69BEFF-CBC4-4A75-8A4E-8D1A2356C79F}" srcOrd="3" destOrd="0" parTransId="{B3FCF73A-3B26-48A1-92E3-C6421683C49E}" sibTransId="{1FF1AD9C-0A2B-44BA-8A15-8126DEE4E9BE}"/>
    <dgm:cxn modelId="{FADDFF40-DDE4-489B-8ADB-86C8EFC0E50F}" type="presOf" srcId="{1FF1AD9C-0A2B-44BA-8A15-8126DEE4E9BE}" destId="{FE64CB0C-B109-424D-9F0D-5EE971893FE8}" srcOrd="0" destOrd="0" presId="urn:microsoft.com/office/officeart/2005/8/layout/cycle1"/>
    <dgm:cxn modelId="{39FE2F43-46C8-49E4-A10E-75489C7435E5}" type="presOf" srcId="{2C69BEFF-CBC4-4A75-8A4E-8D1A2356C79F}" destId="{29D01F68-B774-47A6-9A91-8D32EDB30433}" srcOrd="0" destOrd="0" presId="urn:microsoft.com/office/officeart/2005/8/layout/cycle1"/>
    <dgm:cxn modelId="{289C4E4E-9CFF-43D5-A569-F9540EE2E2B8}" type="presOf" srcId="{274625E7-786C-4D59-B7A9-C371C060698A}" destId="{8371A639-66F4-4970-86B6-B94081416597}" srcOrd="0" destOrd="0" presId="urn:microsoft.com/office/officeart/2005/8/layout/cycle1"/>
    <dgm:cxn modelId="{AE18094F-10D6-4E7C-9D61-FEC56B1E00E8}" type="presOf" srcId="{D753E53B-C37D-4C25-B13B-015C1D03F429}" destId="{9C1F79AB-AFF1-46D8-8FD3-9952A3FD1B78}" srcOrd="0" destOrd="0" presId="urn:microsoft.com/office/officeart/2005/8/layout/cycle1"/>
    <dgm:cxn modelId="{C9529E58-0E47-4F6B-A70D-79FB7EC96E28}" type="presOf" srcId="{A8EA2CE2-24BF-40B0-B848-67FB02DB0AE9}" destId="{B166579E-7761-495A-859B-1CBC4454D387}" srcOrd="0" destOrd="0" presId="urn:microsoft.com/office/officeart/2005/8/layout/cycle1"/>
    <dgm:cxn modelId="{1A711B59-C1F2-4C50-8F74-5F54E8E1C894}" type="presOf" srcId="{41A7F0DA-C228-4F48-856E-D23E6251C7C2}" destId="{3A237336-E1AA-4E15-96D9-33F8C1F093F6}" srcOrd="0" destOrd="0" presId="urn:microsoft.com/office/officeart/2005/8/layout/cycle1"/>
    <dgm:cxn modelId="{B824EF8C-1327-4770-8778-3FB2FD47F2F6}" type="presOf" srcId="{4B6270CA-DBB1-45A2-930D-A2861C3039A9}" destId="{FF9FCBD0-39BC-440F-AD99-39058E71048B}" srcOrd="0" destOrd="0" presId="urn:microsoft.com/office/officeart/2005/8/layout/cycle1"/>
    <dgm:cxn modelId="{6E887CA3-2D68-42C8-9BE1-C15526974CF6}" srcId="{274625E7-786C-4D59-B7A9-C371C060698A}" destId="{41A7F0DA-C228-4F48-856E-D23E6251C7C2}" srcOrd="0" destOrd="0" parTransId="{6A92B1FD-EBF9-4394-B1BA-BE093167551C}" sibTransId="{D753E53B-C37D-4C25-B13B-015C1D03F429}"/>
    <dgm:cxn modelId="{AEC73AA9-072C-4C89-8979-F2F24F9EBDA7}" type="presOf" srcId="{14B6B97F-176A-4563-BC38-4BDF27C70727}" destId="{A67E1B6F-C5D1-446E-AC95-4331384697FD}" srcOrd="0" destOrd="0" presId="urn:microsoft.com/office/officeart/2005/8/layout/cycle1"/>
    <dgm:cxn modelId="{A15318CE-3FA2-42D0-AC87-AF206F837C08}" srcId="{274625E7-786C-4D59-B7A9-C371C060698A}" destId="{14B6B97F-176A-4563-BC38-4BDF27C70727}" srcOrd="1" destOrd="0" parTransId="{CCA90E19-EE8C-4FE9-B55D-68357A2E0538}" sibTransId="{4B6270CA-DBB1-45A2-930D-A2861C3039A9}"/>
    <dgm:cxn modelId="{880708DB-7AC2-4951-90FE-4EEEDBBF9566}" type="presOf" srcId="{EF92A150-F0FE-457B-8ED0-5B7F3658DBC9}" destId="{6FD76740-021A-4EA8-BA0A-9A409CA06C01}" srcOrd="0" destOrd="0" presId="urn:microsoft.com/office/officeart/2005/8/layout/cycle1"/>
    <dgm:cxn modelId="{704E84A9-08BB-4F8E-9401-EEFA11E9E728}" type="presParOf" srcId="{8371A639-66F4-4970-86B6-B94081416597}" destId="{A9DECC27-50BD-4ED2-A320-C7FA8801A33A}" srcOrd="0" destOrd="0" presId="urn:microsoft.com/office/officeart/2005/8/layout/cycle1"/>
    <dgm:cxn modelId="{80E68720-7377-4C97-BA4A-376024895E3C}" type="presParOf" srcId="{8371A639-66F4-4970-86B6-B94081416597}" destId="{3A237336-E1AA-4E15-96D9-33F8C1F093F6}" srcOrd="1" destOrd="0" presId="urn:microsoft.com/office/officeart/2005/8/layout/cycle1"/>
    <dgm:cxn modelId="{CCA1A5A1-003F-4841-8DED-C67143C9A719}" type="presParOf" srcId="{8371A639-66F4-4970-86B6-B94081416597}" destId="{9C1F79AB-AFF1-46D8-8FD3-9952A3FD1B78}" srcOrd="2" destOrd="0" presId="urn:microsoft.com/office/officeart/2005/8/layout/cycle1"/>
    <dgm:cxn modelId="{E046FC1A-6F33-4282-8170-9908B261A579}" type="presParOf" srcId="{8371A639-66F4-4970-86B6-B94081416597}" destId="{99591BFA-5531-4DD1-B98B-A415A61FD268}" srcOrd="3" destOrd="0" presId="urn:microsoft.com/office/officeart/2005/8/layout/cycle1"/>
    <dgm:cxn modelId="{91FF05E2-7A4A-42C2-8034-126A9C4DA320}" type="presParOf" srcId="{8371A639-66F4-4970-86B6-B94081416597}" destId="{A67E1B6F-C5D1-446E-AC95-4331384697FD}" srcOrd="4" destOrd="0" presId="urn:microsoft.com/office/officeart/2005/8/layout/cycle1"/>
    <dgm:cxn modelId="{E95D3A0C-9D4C-4C26-AC34-03575716ECC0}" type="presParOf" srcId="{8371A639-66F4-4970-86B6-B94081416597}" destId="{FF9FCBD0-39BC-440F-AD99-39058E71048B}" srcOrd="5" destOrd="0" presId="urn:microsoft.com/office/officeart/2005/8/layout/cycle1"/>
    <dgm:cxn modelId="{CDA5967A-08FB-4432-A3DC-FB97474FD778}" type="presParOf" srcId="{8371A639-66F4-4970-86B6-B94081416597}" destId="{DF0E826E-F949-4FAD-B8C1-7314E39D1705}" srcOrd="6" destOrd="0" presId="urn:microsoft.com/office/officeart/2005/8/layout/cycle1"/>
    <dgm:cxn modelId="{4A05E045-9049-4082-9410-92A04F10F289}" type="presParOf" srcId="{8371A639-66F4-4970-86B6-B94081416597}" destId="{B166579E-7761-495A-859B-1CBC4454D387}" srcOrd="7" destOrd="0" presId="urn:microsoft.com/office/officeart/2005/8/layout/cycle1"/>
    <dgm:cxn modelId="{F3EF7F68-A96F-4190-A097-E2AC04AA04BB}" type="presParOf" srcId="{8371A639-66F4-4970-86B6-B94081416597}" destId="{6FD76740-021A-4EA8-BA0A-9A409CA06C01}" srcOrd="8" destOrd="0" presId="urn:microsoft.com/office/officeart/2005/8/layout/cycle1"/>
    <dgm:cxn modelId="{2F213713-061A-4E4E-8A5E-D1BE5056720C}" type="presParOf" srcId="{8371A639-66F4-4970-86B6-B94081416597}" destId="{6C71FE6B-D35D-446B-9037-B36F8F0A5E58}" srcOrd="9" destOrd="0" presId="urn:microsoft.com/office/officeart/2005/8/layout/cycle1"/>
    <dgm:cxn modelId="{C3E30037-333E-4F8C-A86A-D61AABB1B1E8}" type="presParOf" srcId="{8371A639-66F4-4970-86B6-B94081416597}" destId="{29D01F68-B774-47A6-9A91-8D32EDB30433}" srcOrd="10" destOrd="0" presId="urn:microsoft.com/office/officeart/2005/8/layout/cycle1"/>
    <dgm:cxn modelId="{66455B91-4A70-4EBA-898F-DE5190BE9F1F}" type="presParOf" srcId="{8371A639-66F4-4970-86B6-B94081416597}" destId="{FE64CB0C-B109-424D-9F0D-5EE971893FE8}" srcOrd="11"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0144371-ECC6-4738-B10B-53CDC65586E5}"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D60BBC27-5B61-42D3-ACD8-29B7016F18EC}">
      <dgm:prSet/>
      <dgm:spPr/>
      <dgm:t>
        <a:bodyPr/>
        <a:lstStyle/>
        <a:p>
          <a:r>
            <a:rPr lang="en-US"/>
            <a:t>LLM agents act as </a:t>
          </a:r>
          <a:r>
            <a:rPr lang="en-US" b="1"/>
            <a:t>specialized roles</a:t>
          </a:r>
          <a:r>
            <a:rPr lang="en-US"/>
            <a:t> (coder, planner, critic, diplomat) communicating through natural language.</a:t>
          </a:r>
        </a:p>
      </dgm:t>
    </dgm:pt>
    <dgm:pt modelId="{390741C8-B831-46DA-B059-6D8BC96B61DD}" type="parTrans" cxnId="{8A8ECDFE-E701-45E0-B948-950705D5BF2B}">
      <dgm:prSet/>
      <dgm:spPr/>
      <dgm:t>
        <a:bodyPr/>
        <a:lstStyle/>
        <a:p>
          <a:endParaRPr lang="en-US"/>
        </a:p>
      </dgm:t>
    </dgm:pt>
    <dgm:pt modelId="{7B5DD69F-1BEF-4304-A2EF-9FBE1C1E7488}" type="sibTrans" cxnId="{8A8ECDFE-E701-45E0-B948-950705D5BF2B}">
      <dgm:prSet/>
      <dgm:spPr/>
      <dgm:t>
        <a:bodyPr/>
        <a:lstStyle/>
        <a:p>
          <a:endParaRPr lang="en-US"/>
        </a:p>
      </dgm:t>
    </dgm:pt>
    <dgm:pt modelId="{2E976870-2CB7-49EF-9C23-E196C6FE7BDD}">
      <dgm:prSet/>
      <dgm:spPr/>
      <dgm:t>
        <a:bodyPr/>
        <a:lstStyle/>
        <a:p>
          <a:r>
            <a:rPr lang="en-US"/>
            <a:t>They coordinate to:</a:t>
          </a:r>
          <a:br>
            <a:rPr lang="en-US"/>
          </a:br>
          <a:r>
            <a:rPr lang="en-US" b="1"/>
            <a:t>• Make decisions</a:t>
          </a:r>
          <a:r>
            <a:rPr lang="en-US"/>
            <a:t> (e.g., CAMEL)</a:t>
          </a:r>
          <a:br>
            <a:rPr lang="en-US"/>
          </a:br>
          <a:r>
            <a:rPr lang="en-US" b="1"/>
            <a:t>• Control robots</a:t>
          </a:r>
          <a:r>
            <a:rPr lang="en-US"/>
            <a:t> (language → motion)</a:t>
          </a:r>
          <a:br>
            <a:rPr lang="en-US"/>
          </a:br>
          <a:r>
            <a:rPr lang="en-US" b="1"/>
            <a:t>• Simulate societies</a:t>
          </a:r>
          <a:r>
            <a:rPr lang="en-US"/>
            <a:t> (large virtual agent groups)</a:t>
          </a:r>
        </a:p>
      </dgm:t>
    </dgm:pt>
    <dgm:pt modelId="{E0D51936-07B3-499C-8C32-35A95D735FF2}" type="parTrans" cxnId="{6760F53D-258D-4BDC-8D64-4217F02BC770}">
      <dgm:prSet/>
      <dgm:spPr/>
      <dgm:t>
        <a:bodyPr/>
        <a:lstStyle/>
        <a:p>
          <a:endParaRPr lang="en-US"/>
        </a:p>
      </dgm:t>
    </dgm:pt>
    <dgm:pt modelId="{87963722-9CC5-4EA1-92C6-E3360C3B3C8A}" type="sibTrans" cxnId="{6760F53D-258D-4BDC-8D64-4217F02BC770}">
      <dgm:prSet/>
      <dgm:spPr/>
      <dgm:t>
        <a:bodyPr/>
        <a:lstStyle/>
        <a:p>
          <a:endParaRPr lang="en-US"/>
        </a:p>
      </dgm:t>
    </dgm:pt>
    <dgm:pt modelId="{06D48251-3A53-4738-BE88-A225C21F66FF}">
      <dgm:prSet/>
      <dgm:spPr/>
      <dgm:t>
        <a:bodyPr/>
        <a:lstStyle/>
        <a:p>
          <a:r>
            <a:rPr lang="en-US"/>
            <a:t>They still face classic MAS challenges:</a:t>
          </a:r>
          <a:br>
            <a:rPr lang="en-US"/>
          </a:br>
          <a:r>
            <a:rPr lang="en-US" b="1"/>
            <a:t>who to talk to</a:t>
          </a:r>
          <a:r>
            <a:rPr lang="en-US"/>
            <a:t>, </a:t>
          </a:r>
          <a:r>
            <a:rPr lang="en-US" b="1"/>
            <a:t>what to share</a:t>
          </a:r>
          <a:r>
            <a:rPr lang="en-US"/>
            <a:t>, </a:t>
          </a:r>
          <a:r>
            <a:rPr lang="en-US" b="1"/>
            <a:t>how to align goals</a:t>
          </a:r>
          <a:r>
            <a:rPr lang="en-US"/>
            <a:t>.</a:t>
          </a:r>
        </a:p>
      </dgm:t>
    </dgm:pt>
    <dgm:pt modelId="{F8990632-B2E9-4694-ABF1-3DE8512DA38A}" type="parTrans" cxnId="{0E72D615-5C48-4914-93D9-00CE67A8DEAA}">
      <dgm:prSet/>
      <dgm:spPr/>
      <dgm:t>
        <a:bodyPr/>
        <a:lstStyle/>
        <a:p>
          <a:endParaRPr lang="en-US"/>
        </a:p>
      </dgm:t>
    </dgm:pt>
    <dgm:pt modelId="{7228762C-1440-4446-A7FE-6246DAED1131}" type="sibTrans" cxnId="{0E72D615-5C48-4914-93D9-00CE67A8DEAA}">
      <dgm:prSet/>
      <dgm:spPr/>
      <dgm:t>
        <a:bodyPr/>
        <a:lstStyle/>
        <a:p>
          <a:endParaRPr lang="en-US"/>
        </a:p>
      </dgm:t>
    </dgm:pt>
    <dgm:pt modelId="{4478C659-6BBE-43F7-AA87-F455D2B95CC8}" type="pres">
      <dgm:prSet presAssocID="{00144371-ECC6-4738-B10B-53CDC65586E5}" presName="linear" presStyleCnt="0">
        <dgm:presLayoutVars>
          <dgm:animLvl val="lvl"/>
          <dgm:resizeHandles val="exact"/>
        </dgm:presLayoutVars>
      </dgm:prSet>
      <dgm:spPr/>
    </dgm:pt>
    <dgm:pt modelId="{CE904E25-1621-4187-9C9E-D32F559722D7}" type="pres">
      <dgm:prSet presAssocID="{D60BBC27-5B61-42D3-ACD8-29B7016F18EC}" presName="parentText" presStyleLbl="node1" presStyleIdx="0" presStyleCnt="3">
        <dgm:presLayoutVars>
          <dgm:chMax val="0"/>
          <dgm:bulletEnabled val="1"/>
        </dgm:presLayoutVars>
      </dgm:prSet>
      <dgm:spPr/>
    </dgm:pt>
    <dgm:pt modelId="{BF24E152-317E-4C25-86E6-55F364996B6D}" type="pres">
      <dgm:prSet presAssocID="{7B5DD69F-1BEF-4304-A2EF-9FBE1C1E7488}" presName="spacer" presStyleCnt="0"/>
      <dgm:spPr/>
    </dgm:pt>
    <dgm:pt modelId="{FE313FC4-E7E8-4AD4-9C80-BAAEFC5E14EB}" type="pres">
      <dgm:prSet presAssocID="{2E976870-2CB7-49EF-9C23-E196C6FE7BDD}" presName="parentText" presStyleLbl="node1" presStyleIdx="1" presStyleCnt="3">
        <dgm:presLayoutVars>
          <dgm:chMax val="0"/>
          <dgm:bulletEnabled val="1"/>
        </dgm:presLayoutVars>
      </dgm:prSet>
      <dgm:spPr/>
    </dgm:pt>
    <dgm:pt modelId="{6CBC71A6-44A2-4F72-A346-C8A4FA232BB9}" type="pres">
      <dgm:prSet presAssocID="{87963722-9CC5-4EA1-92C6-E3360C3B3C8A}" presName="spacer" presStyleCnt="0"/>
      <dgm:spPr/>
    </dgm:pt>
    <dgm:pt modelId="{30C73412-994C-477A-9E64-213F20894BE1}" type="pres">
      <dgm:prSet presAssocID="{06D48251-3A53-4738-BE88-A225C21F66FF}" presName="parentText" presStyleLbl="node1" presStyleIdx="2" presStyleCnt="3">
        <dgm:presLayoutVars>
          <dgm:chMax val="0"/>
          <dgm:bulletEnabled val="1"/>
        </dgm:presLayoutVars>
      </dgm:prSet>
      <dgm:spPr/>
    </dgm:pt>
  </dgm:ptLst>
  <dgm:cxnLst>
    <dgm:cxn modelId="{0E72D615-5C48-4914-93D9-00CE67A8DEAA}" srcId="{00144371-ECC6-4738-B10B-53CDC65586E5}" destId="{06D48251-3A53-4738-BE88-A225C21F66FF}" srcOrd="2" destOrd="0" parTransId="{F8990632-B2E9-4694-ABF1-3DE8512DA38A}" sibTransId="{7228762C-1440-4446-A7FE-6246DAED1131}"/>
    <dgm:cxn modelId="{6760F53D-258D-4BDC-8D64-4217F02BC770}" srcId="{00144371-ECC6-4738-B10B-53CDC65586E5}" destId="{2E976870-2CB7-49EF-9C23-E196C6FE7BDD}" srcOrd="1" destOrd="0" parTransId="{E0D51936-07B3-499C-8C32-35A95D735FF2}" sibTransId="{87963722-9CC5-4EA1-92C6-E3360C3B3C8A}"/>
    <dgm:cxn modelId="{48634D4F-5C52-45C2-9DA5-1AF274FC0D04}" type="presOf" srcId="{00144371-ECC6-4738-B10B-53CDC65586E5}" destId="{4478C659-6BBE-43F7-AA87-F455D2B95CC8}" srcOrd="0" destOrd="0" presId="urn:microsoft.com/office/officeart/2005/8/layout/vList2"/>
    <dgm:cxn modelId="{8D9F2550-8A41-403F-A43A-89EA47318967}" type="presOf" srcId="{D60BBC27-5B61-42D3-ACD8-29B7016F18EC}" destId="{CE904E25-1621-4187-9C9E-D32F559722D7}" srcOrd="0" destOrd="0" presId="urn:microsoft.com/office/officeart/2005/8/layout/vList2"/>
    <dgm:cxn modelId="{CE400E52-09AD-4D43-B6AF-193D96F959C8}" type="presOf" srcId="{06D48251-3A53-4738-BE88-A225C21F66FF}" destId="{30C73412-994C-477A-9E64-213F20894BE1}" srcOrd="0" destOrd="0" presId="urn:microsoft.com/office/officeart/2005/8/layout/vList2"/>
    <dgm:cxn modelId="{C5893784-469A-431C-A57D-FFE8C084FBBC}" type="presOf" srcId="{2E976870-2CB7-49EF-9C23-E196C6FE7BDD}" destId="{FE313FC4-E7E8-4AD4-9C80-BAAEFC5E14EB}" srcOrd="0" destOrd="0" presId="urn:microsoft.com/office/officeart/2005/8/layout/vList2"/>
    <dgm:cxn modelId="{8A8ECDFE-E701-45E0-B948-950705D5BF2B}" srcId="{00144371-ECC6-4738-B10B-53CDC65586E5}" destId="{D60BBC27-5B61-42D3-ACD8-29B7016F18EC}" srcOrd="0" destOrd="0" parTransId="{390741C8-B831-46DA-B059-6D8BC96B61DD}" sibTransId="{7B5DD69F-1BEF-4304-A2EF-9FBE1C1E7488}"/>
    <dgm:cxn modelId="{41DCD677-CEDB-48A1-BF1C-68CE3EF5268D}" type="presParOf" srcId="{4478C659-6BBE-43F7-AA87-F455D2B95CC8}" destId="{CE904E25-1621-4187-9C9E-D32F559722D7}" srcOrd="0" destOrd="0" presId="urn:microsoft.com/office/officeart/2005/8/layout/vList2"/>
    <dgm:cxn modelId="{C4342C73-A566-4D50-BB17-4E0038235D50}" type="presParOf" srcId="{4478C659-6BBE-43F7-AA87-F455D2B95CC8}" destId="{BF24E152-317E-4C25-86E6-55F364996B6D}" srcOrd="1" destOrd="0" presId="urn:microsoft.com/office/officeart/2005/8/layout/vList2"/>
    <dgm:cxn modelId="{103D71DE-0C6E-4329-9307-5ED211213166}" type="presParOf" srcId="{4478C659-6BBE-43F7-AA87-F455D2B95CC8}" destId="{FE313FC4-E7E8-4AD4-9C80-BAAEFC5E14EB}" srcOrd="2" destOrd="0" presId="urn:microsoft.com/office/officeart/2005/8/layout/vList2"/>
    <dgm:cxn modelId="{09A6520F-C0D8-46D7-9E6D-5548B9C09803}" type="presParOf" srcId="{4478C659-6BBE-43F7-AA87-F455D2B95CC8}" destId="{6CBC71A6-44A2-4F72-A346-C8A4FA232BB9}" srcOrd="3" destOrd="0" presId="urn:microsoft.com/office/officeart/2005/8/layout/vList2"/>
    <dgm:cxn modelId="{C64F4B8D-9DB3-4D4C-ACE4-50761EDEA2BD}" type="presParOf" srcId="{4478C659-6BBE-43F7-AA87-F455D2B95CC8}" destId="{30C73412-994C-477A-9E64-213F20894BE1}"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5F748FD-530C-4251-83AF-9B2684CFBF0E}" type="doc">
      <dgm:prSet loTypeId="urn:microsoft.com/office/officeart/2018/2/layout/IconCircle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001D0F2-171A-47C0-B356-30978F6970F7}">
      <dgm:prSet/>
      <dgm:spPr/>
      <dgm:t>
        <a:bodyPr/>
        <a:lstStyle/>
        <a:p>
          <a:pPr>
            <a:lnSpc>
              <a:spcPct val="100000"/>
            </a:lnSpc>
          </a:pPr>
          <a:r>
            <a:rPr lang="en-US" b="0" i="0" baseline="0"/>
            <a:t>Key design principles for building reliable LLM agent systems:</a:t>
          </a:r>
          <a:endParaRPr lang="en-US"/>
        </a:p>
      </dgm:t>
    </dgm:pt>
    <dgm:pt modelId="{B73B9689-055E-4618-BD38-64724FFE7A07}" type="parTrans" cxnId="{A10C5E46-CEA8-4D5D-A040-B8754739B96C}">
      <dgm:prSet/>
      <dgm:spPr/>
      <dgm:t>
        <a:bodyPr/>
        <a:lstStyle/>
        <a:p>
          <a:endParaRPr lang="en-US"/>
        </a:p>
      </dgm:t>
    </dgm:pt>
    <dgm:pt modelId="{2567EB5E-3C7E-4E1B-9565-5ADF93DD46CB}" type="sibTrans" cxnId="{A10C5E46-CEA8-4D5D-A040-B8754739B96C}">
      <dgm:prSet/>
      <dgm:spPr/>
      <dgm:t>
        <a:bodyPr/>
        <a:lstStyle/>
        <a:p>
          <a:pPr>
            <a:lnSpc>
              <a:spcPct val="100000"/>
            </a:lnSpc>
          </a:pPr>
          <a:endParaRPr lang="en-US"/>
        </a:p>
      </dgm:t>
    </dgm:pt>
    <dgm:pt modelId="{9D1753F7-37B4-4140-8C1A-F633F72E727F}">
      <dgm:prSet/>
      <dgm:spPr/>
      <dgm:t>
        <a:bodyPr/>
        <a:lstStyle/>
        <a:p>
          <a:pPr>
            <a:lnSpc>
              <a:spcPct val="100000"/>
            </a:lnSpc>
          </a:pPr>
          <a:r>
            <a:rPr lang="en-US" b="1" i="0" baseline="0"/>
            <a:t>• Hybrid Hierarchies</a:t>
          </a:r>
          <a:r>
            <a:rPr lang="en-US" b="0" i="0" baseline="0"/>
            <a:t> – combine manager agents with local workers for scalability.</a:t>
          </a:r>
          <a:endParaRPr lang="en-US"/>
        </a:p>
      </dgm:t>
    </dgm:pt>
    <dgm:pt modelId="{4C133272-C8A7-4C2B-9A72-A7747B7CBA01}" type="parTrans" cxnId="{50722C70-F253-4424-BC9F-24B0D7A90C6E}">
      <dgm:prSet/>
      <dgm:spPr/>
      <dgm:t>
        <a:bodyPr/>
        <a:lstStyle/>
        <a:p>
          <a:endParaRPr lang="en-US"/>
        </a:p>
      </dgm:t>
    </dgm:pt>
    <dgm:pt modelId="{6905F083-4F0C-4451-B47C-88BD91806C8A}" type="sibTrans" cxnId="{50722C70-F253-4424-BC9F-24B0D7A90C6E}">
      <dgm:prSet/>
      <dgm:spPr/>
      <dgm:t>
        <a:bodyPr/>
        <a:lstStyle/>
        <a:p>
          <a:pPr>
            <a:lnSpc>
              <a:spcPct val="100000"/>
            </a:lnSpc>
          </a:pPr>
          <a:endParaRPr lang="en-US"/>
        </a:p>
      </dgm:t>
    </dgm:pt>
    <dgm:pt modelId="{09D131E3-392C-4084-B039-CB54A847C2C0}">
      <dgm:prSet/>
      <dgm:spPr/>
      <dgm:t>
        <a:bodyPr/>
        <a:lstStyle/>
        <a:p>
          <a:pPr>
            <a:lnSpc>
              <a:spcPct val="100000"/>
            </a:lnSpc>
          </a:pPr>
          <a:r>
            <a:rPr lang="en-US" b="1" i="0" baseline="0"/>
            <a:t>• Structured Communication</a:t>
          </a:r>
          <a:r>
            <a:rPr lang="en-US" b="0" i="0" baseline="0"/>
            <a:t> – even natural-language messages need protocols and roles.</a:t>
          </a:r>
          <a:endParaRPr lang="en-US"/>
        </a:p>
      </dgm:t>
    </dgm:pt>
    <dgm:pt modelId="{198F3CC2-6665-41A9-AEFC-D0C15546B139}" type="parTrans" cxnId="{9FAD3B19-A2F5-40AE-B502-B6B446BE8016}">
      <dgm:prSet/>
      <dgm:spPr/>
      <dgm:t>
        <a:bodyPr/>
        <a:lstStyle/>
        <a:p>
          <a:endParaRPr lang="en-US"/>
        </a:p>
      </dgm:t>
    </dgm:pt>
    <dgm:pt modelId="{26EECE8D-6AED-470B-B6C1-2C2A342647C3}" type="sibTrans" cxnId="{9FAD3B19-A2F5-40AE-B502-B6B446BE8016}">
      <dgm:prSet/>
      <dgm:spPr/>
      <dgm:t>
        <a:bodyPr/>
        <a:lstStyle/>
        <a:p>
          <a:pPr>
            <a:lnSpc>
              <a:spcPct val="100000"/>
            </a:lnSpc>
          </a:pPr>
          <a:endParaRPr lang="en-US"/>
        </a:p>
      </dgm:t>
    </dgm:pt>
    <dgm:pt modelId="{F226CCF4-1EB3-4280-8C13-73155CBA22DF}">
      <dgm:prSet/>
      <dgm:spPr/>
      <dgm:t>
        <a:bodyPr/>
        <a:lstStyle/>
        <a:p>
          <a:pPr>
            <a:lnSpc>
              <a:spcPct val="100000"/>
            </a:lnSpc>
          </a:pPr>
          <a:r>
            <a:rPr lang="en-US" b="1" i="0" baseline="0"/>
            <a:t>• System-Level Metrics</a:t>
          </a:r>
          <a:r>
            <a:rPr lang="en-US" b="0" i="0" baseline="0"/>
            <a:t> – optimize for overall task success, latency, safety, and fairness.</a:t>
          </a:r>
          <a:endParaRPr lang="en-US"/>
        </a:p>
      </dgm:t>
    </dgm:pt>
    <dgm:pt modelId="{1F347E87-D1B3-485B-A325-EA09A7D2F90B}" type="parTrans" cxnId="{AB80E252-5A5E-441F-8AD9-705DC94E9B2E}">
      <dgm:prSet/>
      <dgm:spPr/>
      <dgm:t>
        <a:bodyPr/>
        <a:lstStyle/>
        <a:p>
          <a:endParaRPr lang="en-US"/>
        </a:p>
      </dgm:t>
    </dgm:pt>
    <dgm:pt modelId="{EE37A226-FBB6-448B-A3D2-257181563382}" type="sibTrans" cxnId="{AB80E252-5A5E-441F-8AD9-705DC94E9B2E}">
      <dgm:prSet/>
      <dgm:spPr/>
      <dgm:t>
        <a:bodyPr/>
        <a:lstStyle/>
        <a:p>
          <a:pPr>
            <a:lnSpc>
              <a:spcPct val="100000"/>
            </a:lnSpc>
          </a:pPr>
          <a:endParaRPr lang="en-US"/>
        </a:p>
      </dgm:t>
    </dgm:pt>
    <dgm:pt modelId="{6C58DB16-62FA-4C8C-BC04-75DE50A941CE}">
      <dgm:prSet/>
      <dgm:spPr/>
      <dgm:t>
        <a:bodyPr/>
        <a:lstStyle/>
        <a:p>
          <a:pPr>
            <a:lnSpc>
              <a:spcPct val="100000"/>
            </a:lnSpc>
          </a:pPr>
          <a:r>
            <a:rPr lang="en-US" b="1" i="0" baseline="0"/>
            <a:t>• Conflict Resolution</a:t>
          </a:r>
          <a:r>
            <a:rPr lang="en-US" b="0" i="0" baseline="0"/>
            <a:t> – use arbitration, voting, or consensus when agents disagree.</a:t>
          </a:r>
          <a:endParaRPr lang="en-US"/>
        </a:p>
      </dgm:t>
    </dgm:pt>
    <dgm:pt modelId="{42F792B3-D34C-4F13-A84D-26687BEB7599}" type="parTrans" cxnId="{0881BD6F-FDCB-422B-AFAB-B24364672682}">
      <dgm:prSet/>
      <dgm:spPr/>
      <dgm:t>
        <a:bodyPr/>
        <a:lstStyle/>
        <a:p>
          <a:endParaRPr lang="en-US"/>
        </a:p>
      </dgm:t>
    </dgm:pt>
    <dgm:pt modelId="{7962C7EC-631E-4C38-B73E-526BD66E3DDD}" type="sibTrans" cxnId="{0881BD6F-FDCB-422B-AFAB-B24364672682}">
      <dgm:prSet/>
      <dgm:spPr/>
      <dgm:t>
        <a:bodyPr/>
        <a:lstStyle/>
        <a:p>
          <a:pPr>
            <a:lnSpc>
              <a:spcPct val="100000"/>
            </a:lnSpc>
          </a:pPr>
          <a:endParaRPr lang="en-US"/>
        </a:p>
      </dgm:t>
    </dgm:pt>
    <dgm:pt modelId="{3D3F206A-E169-465C-B8B5-84A0EF1AAE3D}">
      <dgm:prSet/>
      <dgm:spPr/>
      <dgm:t>
        <a:bodyPr/>
        <a:lstStyle/>
        <a:p>
          <a:pPr>
            <a:lnSpc>
              <a:spcPct val="100000"/>
            </a:lnSpc>
          </a:pPr>
          <a:r>
            <a:rPr lang="en-US" b="0" i="0" baseline="0"/>
            <a:t>These principles connect classical MAS concepts with practical </a:t>
          </a:r>
          <a:r>
            <a:rPr lang="en-US" b="1" i="0" baseline="0"/>
            <a:t>LLMOps</a:t>
          </a:r>
          <a:r>
            <a:rPr lang="en-US" b="0" i="0" baseline="0"/>
            <a:t> for agentic AI systems.</a:t>
          </a:r>
          <a:endParaRPr lang="en-US"/>
        </a:p>
      </dgm:t>
    </dgm:pt>
    <dgm:pt modelId="{4CA7B6C7-EACF-4818-9794-B0F7DB6E2054}" type="parTrans" cxnId="{BFA0875E-7840-4827-B49B-67AA73007D7A}">
      <dgm:prSet/>
      <dgm:spPr/>
      <dgm:t>
        <a:bodyPr/>
        <a:lstStyle/>
        <a:p>
          <a:endParaRPr lang="en-US"/>
        </a:p>
      </dgm:t>
    </dgm:pt>
    <dgm:pt modelId="{A5B72EA8-D208-4040-83D0-1CBD157BC3B6}" type="sibTrans" cxnId="{BFA0875E-7840-4827-B49B-67AA73007D7A}">
      <dgm:prSet/>
      <dgm:spPr/>
      <dgm:t>
        <a:bodyPr/>
        <a:lstStyle/>
        <a:p>
          <a:endParaRPr lang="en-US"/>
        </a:p>
      </dgm:t>
    </dgm:pt>
    <dgm:pt modelId="{210DFC5C-B8DA-4BC4-BF21-AC9ABBD3EAC2}" type="pres">
      <dgm:prSet presAssocID="{D5F748FD-530C-4251-83AF-9B2684CFBF0E}" presName="root" presStyleCnt="0">
        <dgm:presLayoutVars>
          <dgm:dir/>
          <dgm:resizeHandles val="exact"/>
        </dgm:presLayoutVars>
      </dgm:prSet>
      <dgm:spPr/>
    </dgm:pt>
    <dgm:pt modelId="{BBD0C08B-21C4-4977-B178-041927FDB6D9}" type="pres">
      <dgm:prSet presAssocID="{D5F748FD-530C-4251-83AF-9B2684CFBF0E}" presName="container" presStyleCnt="0">
        <dgm:presLayoutVars>
          <dgm:dir/>
          <dgm:resizeHandles val="exact"/>
        </dgm:presLayoutVars>
      </dgm:prSet>
      <dgm:spPr/>
    </dgm:pt>
    <dgm:pt modelId="{C99194D1-5710-47AF-85AA-553BC9DEF483}" type="pres">
      <dgm:prSet presAssocID="{9001D0F2-171A-47C0-B356-30978F6970F7}" presName="compNode" presStyleCnt="0"/>
      <dgm:spPr/>
    </dgm:pt>
    <dgm:pt modelId="{096541F3-08E7-4CF3-AFDA-A2A613802D13}" type="pres">
      <dgm:prSet presAssocID="{9001D0F2-171A-47C0-B356-30978F6970F7}" presName="iconBgRect" presStyleLbl="bgShp" presStyleIdx="0" presStyleCnt="6"/>
      <dgm:spPr/>
    </dgm:pt>
    <dgm:pt modelId="{36D4185D-A3D0-4B29-B144-6CA1F0606D74}" type="pres">
      <dgm:prSet presAssocID="{9001D0F2-171A-47C0-B356-30978F6970F7}"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ey"/>
        </a:ext>
      </dgm:extLst>
    </dgm:pt>
    <dgm:pt modelId="{AF174FD9-E69E-428D-B3A5-B769D9B48D0C}" type="pres">
      <dgm:prSet presAssocID="{9001D0F2-171A-47C0-B356-30978F6970F7}" presName="spaceRect" presStyleCnt="0"/>
      <dgm:spPr/>
    </dgm:pt>
    <dgm:pt modelId="{9D282E89-E763-4818-AD4D-B3997D2653F6}" type="pres">
      <dgm:prSet presAssocID="{9001D0F2-171A-47C0-B356-30978F6970F7}" presName="textRect" presStyleLbl="revTx" presStyleIdx="0" presStyleCnt="6">
        <dgm:presLayoutVars>
          <dgm:chMax val="1"/>
          <dgm:chPref val="1"/>
        </dgm:presLayoutVars>
      </dgm:prSet>
      <dgm:spPr/>
    </dgm:pt>
    <dgm:pt modelId="{FFDFE1D2-BA4B-4B5A-B456-521EECA493B6}" type="pres">
      <dgm:prSet presAssocID="{2567EB5E-3C7E-4E1B-9565-5ADF93DD46CB}" presName="sibTrans" presStyleLbl="sibTrans2D1" presStyleIdx="0" presStyleCnt="0"/>
      <dgm:spPr/>
    </dgm:pt>
    <dgm:pt modelId="{52B3DB3F-F67C-49AD-A880-0F498FF266E0}" type="pres">
      <dgm:prSet presAssocID="{9D1753F7-37B4-4140-8C1A-F633F72E727F}" presName="compNode" presStyleCnt="0"/>
      <dgm:spPr/>
    </dgm:pt>
    <dgm:pt modelId="{914A7FBD-5B31-4C49-9CA4-9BE8B5D3656B}" type="pres">
      <dgm:prSet presAssocID="{9D1753F7-37B4-4140-8C1A-F633F72E727F}" presName="iconBgRect" presStyleLbl="bgShp" presStyleIdx="1" presStyleCnt="6"/>
      <dgm:spPr/>
    </dgm:pt>
    <dgm:pt modelId="{DDF21C70-226A-45F8-B9BF-91E6DC1EBDAE}" type="pres">
      <dgm:prSet presAssocID="{9D1753F7-37B4-4140-8C1A-F633F72E727F}"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oup of People"/>
        </a:ext>
      </dgm:extLst>
    </dgm:pt>
    <dgm:pt modelId="{30E9D1DE-EC90-4212-A7FE-BEFD3C24D758}" type="pres">
      <dgm:prSet presAssocID="{9D1753F7-37B4-4140-8C1A-F633F72E727F}" presName="spaceRect" presStyleCnt="0"/>
      <dgm:spPr/>
    </dgm:pt>
    <dgm:pt modelId="{052D71DC-14A3-40F0-A232-9BD486289762}" type="pres">
      <dgm:prSet presAssocID="{9D1753F7-37B4-4140-8C1A-F633F72E727F}" presName="textRect" presStyleLbl="revTx" presStyleIdx="1" presStyleCnt="6">
        <dgm:presLayoutVars>
          <dgm:chMax val="1"/>
          <dgm:chPref val="1"/>
        </dgm:presLayoutVars>
      </dgm:prSet>
      <dgm:spPr/>
    </dgm:pt>
    <dgm:pt modelId="{58731BEB-F23D-4012-8B78-89BCF18F141A}" type="pres">
      <dgm:prSet presAssocID="{6905F083-4F0C-4451-B47C-88BD91806C8A}" presName="sibTrans" presStyleLbl="sibTrans2D1" presStyleIdx="0" presStyleCnt="0"/>
      <dgm:spPr/>
    </dgm:pt>
    <dgm:pt modelId="{D516205D-E105-453E-BF1A-1DC703E93BB9}" type="pres">
      <dgm:prSet presAssocID="{09D131E3-392C-4084-B039-CB54A847C2C0}" presName="compNode" presStyleCnt="0"/>
      <dgm:spPr/>
    </dgm:pt>
    <dgm:pt modelId="{8596336F-2A39-4579-B769-57CCB759ED30}" type="pres">
      <dgm:prSet presAssocID="{09D131E3-392C-4084-B039-CB54A847C2C0}" presName="iconBgRect" presStyleLbl="bgShp" presStyleIdx="2" presStyleCnt="6"/>
      <dgm:spPr/>
    </dgm:pt>
    <dgm:pt modelId="{C618E60E-FA58-4EAC-AB0A-A8F3986D7D78}" type="pres">
      <dgm:prSet presAssocID="{09D131E3-392C-4084-B039-CB54A847C2C0}"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erarchy"/>
        </a:ext>
      </dgm:extLst>
    </dgm:pt>
    <dgm:pt modelId="{B173355C-0380-4A6F-A7CE-7B854A2BFF16}" type="pres">
      <dgm:prSet presAssocID="{09D131E3-392C-4084-B039-CB54A847C2C0}" presName="spaceRect" presStyleCnt="0"/>
      <dgm:spPr/>
    </dgm:pt>
    <dgm:pt modelId="{EB9CC841-1A96-42B6-A6AB-59F79E73BF10}" type="pres">
      <dgm:prSet presAssocID="{09D131E3-392C-4084-B039-CB54A847C2C0}" presName="textRect" presStyleLbl="revTx" presStyleIdx="2" presStyleCnt="6">
        <dgm:presLayoutVars>
          <dgm:chMax val="1"/>
          <dgm:chPref val="1"/>
        </dgm:presLayoutVars>
      </dgm:prSet>
      <dgm:spPr/>
    </dgm:pt>
    <dgm:pt modelId="{7AA6AA19-5476-42BE-98CF-A0C874A37172}" type="pres">
      <dgm:prSet presAssocID="{26EECE8D-6AED-470B-B6C1-2C2A342647C3}" presName="sibTrans" presStyleLbl="sibTrans2D1" presStyleIdx="0" presStyleCnt="0"/>
      <dgm:spPr/>
    </dgm:pt>
    <dgm:pt modelId="{91F794FB-7573-4F25-A748-930B3E6939C2}" type="pres">
      <dgm:prSet presAssocID="{F226CCF4-1EB3-4280-8C13-73155CBA22DF}" presName="compNode" presStyleCnt="0"/>
      <dgm:spPr/>
    </dgm:pt>
    <dgm:pt modelId="{6F3DC77B-87B9-4E71-BD7C-2A2D509B4CCC}" type="pres">
      <dgm:prSet presAssocID="{F226CCF4-1EB3-4280-8C13-73155CBA22DF}" presName="iconBgRect" presStyleLbl="bgShp" presStyleIdx="3" presStyleCnt="6"/>
      <dgm:spPr/>
    </dgm:pt>
    <dgm:pt modelId="{858768DE-3142-4C31-81A8-9DEDA310EC39}" type="pres">
      <dgm:prSet presAssocID="{F226CCF4-1EB3-4280-8C13-73155CBA22DF}"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auge"/>
        </a:ext>
      </dgm:extLst>
    </dgm:pt>
    <dgm:pt modelId="{7D228E09-9A05-4919-B5D4-F38CC32F15C3}" type="pres">
      <dgm:prSet presAssocID="{F226CCF4-1EB3-4280-8C13-73155CBA22DF}" presName="spaceRect" presStyleCnt="0"/>
      <dgm:spPr/>
    </dgm:pt>
    <dgm:pt modelId="{2F938B03-DCC2-4F5B-B2D9-1035F4E2DEF2}" type="pres">
      <dgm:prSet presAssocID="{F226CCF4-1EB3-4280-8C13-73155CBA22DF}" presName="textRect" presStyleLbl="revTx" presStyleIdx="3" presStyleCnt="6">
        <dgm:presLayoutVars>
          <dgm:chMax val="1"/>
          <dgm:chPref val="1"/>
        </dgm:presLayoutVars>
      </dgm:prSet>
      <dgm:spPr/>
    </dgm:pt>
    <dgm:pt modelId="{31C0F835-E482-4E65-A3C9-955A052023A1}" type="pres">
      <dgm:prSet presAssocID="{EE37A226-FBB6-448B-A3D2-257181563382}" presName="sibTrans" presStyleLbl="sibTrans2D1" presStyleIdx="0" presStyleCnt="0"/>
      <dgm:spPr/>
    </dgm:pt>
    <dgm:pt modelId="{811E3907-48A9-4876-8EEB-FEF430C193A7}" type="pres">
      <dgm:prSet presAssocID="{6C58DB16-62FA-4C8C-BC04-75DE50A941CE}" presName="compNode" presStyleCnt="0"/>
      <dgm:spPr/>
    </dgm:pt>
    <dgm:pt modelId="{7DE4EFA0-FB6D-40E5-9E22-B64784183ADD}" type="pres">
      <dgm:prSet presAssocID="{6C58DB16-62FA-4C8C-BC04-75DE50A941CE}" presName="iconBgRect" presStyleLbl="bgShp" presStyleIdx="4" presStyleCnt="6"/>
      <dgm:spPr/>
    </dgm:pt>
    <dgm:pt modelId="{2A48B878-9289-4972-AF55-D178522ACA5D}" type="pres">
      <dgm:prSet presAssocID="{6C58DB16-62FA-4C8C-BC04-75DE50A941CE}"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Handshake"/>
        </a:ext>
      </dgm:extLst>
    </dgm:pt>
    <dgm:pt modelId="{553D564B-0B88-400B-865A-FA9F04D6A9F2}" type="pres">
      <dgm:prSet presAssocID="{6C58DB16-62FA-4C8C-BC04-75DE50A941CE}" presName="spaceRect" presStyleCnt="0"/>
      <dgm:spPr/>
    </dgm:pt>
    <dgm:pt modelId="{2F49F6E7-3617-4C37-9291-94032BCB1C0C}" type="pres">
      <dgm:prSet presAssocID="{6C58DB16-62FA-4C8C-BC04-75DE50A941CE}" presName="textRect" presStyleLbl="revTx" presStyleIdx="4" presStyleCnt="6">
        <dgm:presLayoutVars>
          <dgm:chMax val="1"/>
          <dgm:chPref val="1"/>
        </dgm:presLayoutVars>
      </dgm:prSet>
      <dgm:spPr/>
    </dgm:pt>
    <dgm:pt modelId="{F0261BFE-FAC1-426E-9B0B-8D9503B38E05}" type="pres">
      <dgm:prSet presAssocID="{7962C7EC-631E-4C38-B73E-526BD66E3DDD}" presName="sibTrans" presStyleLbl="sibTrans2D1" presStyleIdx="0" presStyleCnt="0"/>
      <dgm:spPr/>
    </dgm:pt>
    <dgm:pt modelId="{044E21A3-5F69-4D26-AEFB-EE105F629F9E}" type="pres">
      <dgm:prSet presAssocID="{3D3F206A-E169-465C-B8B5-84A0EF1AAE3D}" presName="compNode" presStyleCnt="0"/>
      <dgm:spPr/>
    </dgm:pt>
    <dgm:pt modelId="{DEF1297D-0B3E-4259-B170-39C2BCD08047}" type="pres">
      <dgm:prSet presAssocID="{3D3F206A-E169-465C-B8B5-84A0EF1AAE3D}" presName="iconBgRect" presStyleLbl="bgShp" presStyleIdx="5" presStyleCnt="6"/>
      <dgm:spPr/>
    </dgm:pt>
    <dgm:pt modelId="{1DDA38B9-09C5-48BF-B666-1C5F9478276A}" type="pres">
      <dgm:prSet presAssocID="{3D3F206A-E169-465C-B8B5-84A0EF1AAE3D}"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Head with Gears"/>
        </a:ext>
      </dgm:extLst>
    </dgm:pt>
    <dgm:pt modelId="{AFBCE16A-20DB-4A92-85B4-C8B691254AB0}" type="pres">
      <dgm:prSet presAssocID="{3D3F206A-E169-465C-B8B5-84A0EF1AAE3D}" presName="spaceRect" presStyleCnt="0"/>
      <dgm:spPr/>
    </dgm:pt>
    <dgm:pt modelId="{8D8F053F-ECBB-4DE0-95B6-7A1FB12A1BF1}" type="pres">
      <dgm:prSet presAssocID="{3D3F206A-E169-465C-B8B5-84A0EF1AAE3D}" presName="textRect" presStyleLbl="revTx" presStyleIdx="5" presStyleCnt="6">
        <dgm:presLayoutVars>
          <dgm:chMax val="1"/>
          <dgm:chPref val="1"/>
        </dgm:presLayoutVars>
      </dgm:prSet>
      <dgm:spPr/>
    </dgm:pt>
  </dgm:ptLst>
  <dgm:cxnLst>
    <dgm:cxn modelId="{9FAD3B19-A2F5-40AE-B502-B6B446BE8016}" srcId="{D5F748FD-530C-4251-83AF-9B2684CFBF0E}" destId="{09D131E3-392C-4084-B039-CB54A847C2C0}" srcOrd="2" destOrd="0" parTransId="{198F3CC2-6665-41A9-AEFC-D0C15546B139}" sibTransId="{26EECE8D-6AED-470B-B6C1-2C2A342647C3}"/>
    <dgm:cxn modelId="{3A32CB1E-3AEB-443B-938A-549649170361}" type="presOf" srcId="{26EECE8D-6AED-470B-B6C1-2C2A342647C3}" destId="{7AA6AA19-5476-42BE-98CF-A0C874A37172}" srcOrd="0" destOrd="0" presId="urn:microsoft.com/office/officeart/2018/2/layout/IconCircleList"/>
    <dgm:cxn modelId="{BFA0875E-7840-4827-B49B-67AA73007D7A}" srcId="{D5F748FD-530C-4251-83AF-9B2684CFBF0E}" destId="{3D3F206A-E169-465C-B8B5-84A0EF1AAE3D}" srcOrd="5" destOrd="0" parTransId="{4CA7B6C7-EACF-4818-9794-B0F7DB6E2054}" sibTransId="{A5B72EA8-D208-4040-83D0-1CBD157BC3B6}"/>
    <dgm:cxn modelId="{C1D39E5E-AB83-4A30-8413-CB0EFE606712}" type="presOf" srcId="{09D131E3-392C-4084-B039-CB54A847C2C0}" destId="{EB9CC841-1A96-42B6-A6AB-59F79E73BF10}" srcOrd="0" destOrd="0" presId="urn:microsoft.com/office/officeart/2018/2/layout/IconCircleList"/>
    <dgm:cxn modelId="{A10C5E46-CEA8-4D5D-A040-B8754739B96C}" srcId="{D5F748FD-530C-4251-83AF-9B2684CFBF0E}" destId="{9001D0F2-171A-47C0-B356-30978F6970F7}" srcOrd="0" destOrd="0" parTransId="{B73B9689-055E-4618-BD38-64724FFE7A07}" sibTransId="{2567EB5E-3C7E-4E1B-9565-5ADF93DD46CB}"/>
    <dgm:cxn modelId="{0881BD6F-FDCB-422B-AFAB-B24364672682}" srcId="{D5F748FD-530C-4251-83AF-9B2684CFBF0E}" destId="{6C58DB16-62FA-4C8C-BC04-75DE50A941CE}" srcOrd="4" destOrd="0" parTransId="{42F792B3-D34C-4F13-A84D-26687BEB7599}" sibTransId="{7962C7EC-631E-4C38-B73E-526BD66E3DDD}"/>
    <dgm:cxn modelId="{50722C70-F253-4424-BC9F-24B0D7A90C6E}" srcId="{D5F748FD-530C-4251-83AF-9B2684CFBF0E}" destId="{9D1753F7-37B4-4140-8C1A-F633F72E727F}" srcOrd="1" destOrd="0" parTransId="{4C133272-C8A7-4C2B-9A72-A7747B7CBA01}" sibTransId="{6905F083-4F0C-4451-B47C-88BD91806C8A}"/>
    <dgm:cxn modelId="{AB80E252-5A5E-441F-8AD9-705DC94E9B2E}" srcId="{D5F748FD-530C-4251-83AF-9B2684CFBF0E}" destId="{F226CCF4-1EB3-4280-8C13-73155CBA22DF}" srcOrd="3" destOrd="0" parTransId="{1F347E87-D1B3-485B-A325-EA09A7D2F90B}" sibTransId="{EE37A226-FBB6-448B-A3D2-257181563382}"/>
    <dgm:cxn modelId="{5B623455-EB67-46EB-919C-35DB3679BFE9}" type="presOf" srcId="{6C58DB16-62FA-4C8C-BC04-75DE50A941CE}" destId="{2F49F6E7-3617-4C37-9291-94032BCB1C0C}" srcOrd="0" destOrd="0" presId="urn:microsoft.com/office/officeart/2018/2/layout/IconCircleList"/>
    <dgm:cxn modelId="{14E8127C-4D9C-400F-AC1B-90618346B27F}" type="presOf" srcId="{9D1753F7-37B4-4140-8C1A-F633F72E727F}" destId="{052D71DC-14A3-40F0-A232-9BD486289762}" srcOrd="0" destOrd="0" presId="urn:microsoft.com/office/officeart/2018/2/layout/IconCircleList"/>
    <dgm:cxn modelId="{0D9D1A7D-2F14-430F-B4B4-8B4CF9683C43}" type="presOf" srcId="{D5F748FD-530C-4251-83AF-9B2684CFBF0E}" destId="{210DFC5C-B8DA-4BC4-BF21-AC9ABBD3EAC2}" srcOrd="0" destOrd="0" presId="urn:microsoft.com/office/officeart/2018/2/layout/IconCircleList"/>
    <dgm:cxn modelId="{E86B0C98-DB8F-415A-BE9D-D8C8D81C77D2}" type="presOf" srcId="{EE37A226-FBB6-448B-A3D2-257181563382}" destId="{31C0F835-E482-4E65-A3C9-955A052023A1}" srcOrd="0" destOrd="0" presId="urn:microsoft.com/office/officeart/2018/2/layout/IconCircleList"/>
    <dgm:cxn modelId="{1690C09B-E5D9-4C1B-8840-A1A62201EA49}" type="presOf" srcId="{7962C7EC-631E-4C38-B73E-526BD66E3DDD}" destId="{F0261BFE-FAC1-426E-9B0B-8D9503B38E05}" srcOrd="0" destOrd="0" presId="urn:microsoft.com/office/officeart/2018/2/layout/IconCircleList"/>
    <dgm:cxn modelId="{B60602A2-EF38-433D-8EB3-82BF5976EC4A}" type="presOf" srcId="{F226CCF4-1EB3-4280-8C13-73155CBA22DF}" destId="{2F938B03-DCC2-4F5B-B2D9-1035F4E2DEF2}" srcOrd="0" destOrd="0" presId="urn:microsoft.com/office/officeart/2018/2/layout/IconCircleList"/>
    <dgm:cxn modelId="{C33832CB-0359-411E-9E9B-2DB1B1992888}" type="presOf" srcId="{9001D0F2-171A-47C0-B356-30978F6970F7}" destId="{9D282E89-E763-4818-AD4D-B3997D2653F6}" srcOrd="0" destOrd="0" presId="urn:microsoft.com/office/officeart/2018/2/layout/IconCircleList"/>
    <dgm:cxn modelId="{5E92A8F8-CE71-4D06-9B67-777212922095}" type="presOf" srcId="{2567EB5E-3C7E-4E1B-9565-5ADF93DD46CB}" destId="{FFDFE1D2-BA4B-4B5A-B456-521EECA493B6}" srcOrd="0" destOrd="0" presId="urn:microsoft.com/office/officeart/2018/2/layout/IconCircleList"/>
    <dgm:cxn modelId="{63E309FE-C9D0-4A0F-8058-49EFA5A5512F}" type="presOf" srcId="{3D3F206A-E169-465C-B8B5-84A0EF1AAE3D}" destId="{8D8F053F-ECBB-4DE0-95B6-7A1FB12A1BF1}" srcOrd="0" destOrd="0" presId="urn:microsoft.com/office/officeart/2018/2/layout/IconCircleList"/>
    <dgm:cxn modelId="{D53725FE-02D5-4A86-9882-508222629A9D}" type="presOf" srcId="{6905F083-4F0C-4451-B47C-88BD91806C8A}" destId="{58731BEB-F23D-4012-8B78-89BCF18F141A}" srcOrd="0" destOrd="0" presId="urn:microsoft.com/office/officeart/2018/2/layout/IconCircleList"/>
    <dgm:cxn modelId="{3996DE3D-00C1-4D27-AA96-73401AB83488}" type="presParOf" srcId="{210DFC5C-B8DA-4BC4-BF21-AC9ABBD3EAC2}" destId="{BBD0C08B-21C4-4977-B178-041927FDB6D9}" srcOrd="0" destOrd="0" presId="urn:microsoft.com/office/officeart/2018/2/layout/IconCircleList"/>
    <dgm:cxn modelId="{85DB2DF4-59FE-47B7-9F6C-3F8E02BF2F43}" type="presParOf" srcId="{BBD0C08B-21C4-4977-B178-041927FDB6D9}" destId="{C99194D1-5710-47AF-85AA-553BC9DEF483}" srcOrd="0" destOrd="0" presId="urn:microsoft.com/office/officeart/2018/2/layout/IconCircleList"/>
    <dgm:cxn modelId="{0535E528-B44E-4846-942A-4910D200EA51}" type="presParOf" srcId="{C99194D1-5710-47AF-85AA-553BC9DEF483}" destId="{096541F3-08E7-4CF3-AFDA-A2A613802D13}" srcOrd="0" destOrd="0" presId="urn:microsoft.com/office/officeart/2018/2/layout/IconCircleList"/>
    <dgm:cxn modelId="{A3A761CA-2B61-42B5-AED6-21CDE30F3C61}" type="presParOf" srcId="{C99194D1-5710-47AF-85AA-553BC9DEF483}" destId="{36D4185D-A3D0-4B29-B144-6CA1F0606D74}" srcOrd="1" destOrd="0" presId="urn:microsoft.com/office/officeart/2018/2/layout/IconCircleList"/>
    <dgm:cxn modelId="{BA86CC43-0B92-4D36-97BC-EBF0E0ABDA07}" type="presParOf" srcId="{C99194D1-5710-47AF-85AA-553BC9DEF483}" destId="{AF174FD9-E69E-428D-B3A5-B769D9B48D0C}" srcOrd="2" destOrd="0" presId="urn:microsoft.com/office/officeart/2018/2/layout/IconCircleList"/>
    <dgm:cxn modelId="{5F4F1211-2B2C-41BA-BF4A-CDAAFB9465B9}" type="presParOf" srcId="{C99194D1-5710-47AF-85AA-553BC9DEF483}" destId="{9D282E89-E763-4818-AD4D-B3997D2653F6}" srcOrd="3" destOrd="0" presId="urn:microsoft.com/office/officeart/2018/2/layout/IconCircleList"/>
    <dgm:cxn modelId="{907E3D93-F2EA-4965-93CF-B3B14536DB4A}" type="presParOf" srcId="{BBD0C08B-21C4-4977-B178-041927FDB6D9}" destId="{FFDFE1D2-BA4B-4B5A-B456-521EECA493B6}" srcOrd="1" destOrd="0" presId="urn:microsoft.com/office/officeart/2018/2/layout/IconCircleList"/>
    <dgm:cxn modelId="{8FCCB0BB-BBEB-4920-BF81-55150BEB0E13}" type="presParOf" srcId="{BBD0C08B-21C4-4977-B178-041927FDB6D9}" destId="{52B3DB3F-F67C-49AD-A880-0F498FF266E0}" srcOrd="2" destOrd="0" presId="urn:microsoft.com/office/officeart/2018/2/layout/IconCircleList"/>
    <dgm:cxn modelId="{DB452017-356B-40E8-B8A1-904177C528CB}" type="presParOf" srcId="{52B3DB3F-F67C-49AD-A880-0F498FF266E0}" destId="{914A7FBD-5B31-4C49-9CA4-9BE8B5D3656B}" srcOrd="0" destOrd="0" presId="urn:microsoft.com/office/officeart/2018/2/layout/IconCircleList"/>
    <dgm:cxn modelId="{A5C39C92-2DE3-4B57-9379-12A1F61E27DB}" type="presParOf" srcId="{52B3DB3F-F67C-49AD-A880-0F498FF266E0}" destId="{DDF21C70-226A-45F8-B9BF-91E6DC1EBDAE}" srcOrd="1" destOrd="0" presId="urn:microsoft.com/office/officeart/2018/2/layout/IconCircleList"/>
    <dgm:cxn modelId="{5EA58725-256A-4536-B271-AFF67B0C9794}" type="presParOf" srcId="{52B3DB3F-F67C-49AD-A880-0F498FF266E0}" destId="{30E9D1DE-EC90-4212-A7FE-BEFD3C24D758}" srcOrd="2" destOrd="0" presId="urn:microsoft.com/office/officeart/2018/2/layout/IconCircleList"/>
    <dgm:cxn modelId="{D0BAB428-FD20-41E9-B639-1C64A4233D5B}" type="presParOf" srcId="{52B3DB3F-F67C-49AD-A880-0F498FF266E0}" destId="{052D71DC-14A3-40F0-A232-9BD486289762}" srcOrd="3" destOrd="0" presId="urn:microsoft.com/office/officeart/2018/2/layout/IconCircleList"/>
    <dgm:cxn modelId="{A8986A29-499F-4615-8D4F-2E6EEE94B0BD}" type="presParOf" srcId="{BBD0C08B-21C4-4977-B178-041927FDB6D9}" destId="{58731BEB-F23D-4012-8B78-89BCF18F141A}" srcOrd="3" destOrd="0" presId="urn:microsoft.com/office/officeart/2018/2/layout/IconCircleList"/>
    <dgm:cxn modelId="{1AE4C009-8F08-4F49-A8D6-C22CAE231151}" type="presParOf" srcId="{BBD0C08B-21C4-4977-B178-041927FDB6D9}" destId="{D516205D-E105-453E-BF1A-1DC703E93BB9}" srcOrd="4" destOrd="0" presId="urn:microsoft.com/office/officeart/2018/2/layout/IconCircleList"/>
    <dgm:cxn modelId="{CB233F59-008E-47C7-9889-D91E5DB1AFC4}" type="presParOf" srcId="{D516205D-E105-453E-BF1A-1DC703E93BB9}" destId="{8596336F-2A39-4579-B769-57CCB759ED30}" srcOrd="0" destOrd="0" presId="urn:microsoft.com/office/officeart/2018/2/layout/IconCircleList"/>
    <dgm:cxn modelId="{2BC6ED03-1139-4BAE-A4C1-93906C1A7EC0}" type="presParOf" srcId="{D516205D-E105-453E-BF1A-1DC703E93BB9}" destId="{C618E60E-FA58-4EAC-AB0A-A8F3986D7D78}" srcOrd="1" destOrd="0" presId="urn:microsoft.com/office/officeart/2018/2/layout/IconCircleList"/>
    <dgm:cxn modelId="{8983A757-C3A2-45F1-A7E8-EEA9B8BC5F01}" type="presParOf" srcId="{D516205D-E105-453E-BF1A-1DC703E93BB9}" destId="{B173355C-0380-4A6F-A7CE-7B854A2BFF16}" srcOrd="2" destOrd="0" presId="urn:microsoft.com/office/officeart/2018/2/layout/IconCircleList"/>
    <dgm:cxn modelId="{78D5B2A4-F964-4291-A2E7-3C0619A06890}" type="presParOf" srcId="{D516205D-E105-453E-BF1A-1DC703E93BB9}" destId="{EB9CC841-1A96-42B6-A6AB-59F79E73BF10}" srcOrd="3" destOrd="0" presId="urn:microsoft.com/office/officeart/2018/2/layout/IconCircleList"/>
    <dgm:cxn modelId="{7B97EDDC-6A06-4623-89E1-750048E7999A}" type="presParOf" srcId="{BBD0C08B-21C4-4977-B178-041927FDB6D9}" destId="{7AA6AA19-5476-42BE-98CF-A0C874A37172}" srcOrd="5" destOrd="0" presId="urn:microsoft.com/office/officeart/2018/2/layout/IconCircleList"/>
    <dgm:cxn modelId="{9C6AF143-5CE4-4450-ADD0-655F694DE132}" type="presParOf" srcId="{BBD0C08B-21C4-4977-B178-041927FDB6D9}" destId="{91F794FB-7573-4F25-A748-930B3E6939C2}" srcOrd="6" destOrd="0" presId="urn:microsoft.com/office/officeart/2018/2/layout/IconCircleList"/>
    <dgm:cxn modelId="{8FB86F59-3E54-45D4-8962-4A0628D6CFD4}" type="presParOf" srcId="{91F794FB-7573-4F25-A748-930B3E6939C2}" destId="{6F3DC77B-87B9-4E71-BD7C-2A2D509B4CCC}" srcOrd="0" destOrd="0" presId="urn:microsoft.com/office/officeart/2018/2/layout/IconCircleList"/>
    <dgm:cxn modelId="{0A1825C0-8C58-4D6B-8411-A577A56EE9F9}" type="presParOf" srcId="{91F794FB-7573-4F25-A748-930B3E6939C2}" destId="{858768DE-3142-4C31-81A8-9DEDA310EC39}" srcOrd="1" destOrd="0" presId="urn:microsoft.com/office/officeart/2018/2/layout/IconCircleList"/>
    <dgm:cxn modelId="{BF5F7C3F-2703-4B0F-ABAE-2C4AE499665B}" type="presParOf" srcId="{91F794FB-7573-4F25-A748-930B3E6939C2}" destId="{7D228E09-9A05-4919-B5D4-F38CC32F15C3}" srcOrd="2" destOrd="0" presId="urn:microsoft.com/office/officeart/2018/2/layout/IconCircleList"/>
    <dgm:cxn modelId="{B0D6B11D-CE69-40BC-A765-0DA4C8B4F441}" type="presParOf" srcId="{91F794FB-7573-4F25-A748-930B3E6939C2}" destId="{2F938B03-DCC2-4F5B-B2D9-1035F4E2DEF2}" srcOrd="3" destOrd="0" presId="urn:microsoft.com/office/officeart/2018/2/layout/IconCircleList"/>
    <dgm:cxn modelId="{51950B22-E146-49A6-B44B-4884FCDE48F8}" type="presParOf" srcId="{BBD0C08B-21C4-4977-B178-041927FDB6D9}" destId="{31C0F835-E482-4E65-A3C9-955A052023A1}" srcOrd="7" destOrd="0" presId="urn:microsoft.com/office/officeart/2018/2/layout/IconCircleList"/>
    <dgm:cxn modelId="{499C2310-428E-4486-9BC7-B9CF1978F95A}" type="presParOf" srcId="{BBD0C08B-21C4-4977-B178-041927FDB6D9}" destId="{811E3907-48A9-4876-8EEB-FEF430C193A7}" srcOrd="8" destOrd="0" presId="urn:microsoft.com/office/officeart/2018/2/layout/IconCircleList"/>
    <dgm:cxn modelId="{943B8716-3462-45FF-B2FC-5C78B7724862}" type="presParOf" srcId="{811E3907-48A9-4876-8EEB-FEF430C193A7}" destId="{7DE4EFA0-FB6D-40E5-9E22-B64784183ADD}" srcOrd="0" destOrd="0" presId="urn:microsoft.com/office/officeart/2018/2/layout/IconCircleList"/>
    <dgm:cxn modelId="{47D9053D-3CDC-4F62-9597-5CDE8D64B3C9}" type="presParOf" srcId="{811E3907-48A9-4876-8EEB-FEF430C193A7}" destId="{2A48B878-9289-4972-AF55-D178522ACA5D}" srcOrd="1" destOrd="0" presId="urn:microsoft.com/office/officeart/2018/2/layout/IconCircleList"/>
    <dgm:cxn modelId="{63E8D9B8-44FA-4866-8FEF-B3A2EF43CB6C}" type="presParOf" srcId="{811E3907-48A9-4876-8EEB-FEF430C193A7}" destId="{553D564B-0B88-400B-865A-FA9F04D6A9F2}" srcOrd="2" destOrd="0" presId="urn:microsoft.com/office/officeart/2018/2/layout/IconCircleList"/>
    <dgm:cxn modelId="{75E3114D-794F-49D9-83E9-43AFFCD433BF}" type="presParOf" srcId="{811E3907-48A9-4876-8EEB-FEF430C193A7}" destId="{2F49F6E7-3617-4C37-9291-94032BCB1C0C}" srcOrd="3" destOrd="0" presId="urn:microsoft.com/office/officeart/2018/2/layout/IconCircleList"/>
    <dgm:cxn modelId="{FFDFED85-594D-4776-BE15-E8DC382D16A7}" type="presParOf" srcId="{BBD0C08B-21C4-4977-B178-041927FDB6D9}" destId="{F0261BFE-FAC1-426E-9B0B-8D9503B38E05}" srcOrd="9" destOrd="0" presId="urn:microsoft.com/office/officeart/2018/2/layout/IconCircleList"/>
    <dgm:cxn modelId="{42F31BB1-910D-4B3F-9CCD-15A4896EA793}" type="presParOf" srcId="{BBD0C08B-21C4-4977-B178-041927FDB6D9}" destId="{044E21A3-5F69-4D26-AEFB-EE105F629F9E}" srcOrd="10" destOrd="0" presId="urn:microsoft.com/office/officeart/2018/2/layout/IconCircleList"/>
    <dgm:cxn modelId="{0F35A74A-B819-4908-866B-FAABCAF57063}" type="presParOf" srcId="{044E21A3-5F69-4D26-AEFB-EE105F629F9E}" destId="{DEF1297D-0B3E-4259-B170-39C2BCD08047}" srcOrd="0" destOrd="0" presId="urn:microsoft.com/office/officeart/2018/2/layout/IconCircleList"/>
    <dgm:cxn modelId="{D0AD2339-7F00-4231-BE9A-DA2C39DEE36A}" type="presParOf" srcId="{044E21A3-5F69-4D26-AEFB-EE105F629F9E}" destId="{1DDA38B9-09C5-48BF-B666-1C5F9478276A}" srcOrd="1" destOrd="0" presId="urn:microsoft.com/office/officeart/2018/2/layout/IconCircleList"/>
    <dgm:cxn modelId="{DA42CCDF-9351-4A91-AF5E-9E0546F128F6}" type="presParOf" srcId="{044E21A3-5F69-4D26-AEFB-EE105F629F9E}" destId="{AFBCE16A-20DB-4A92-85B4-C8B691254AB0}" srcOrd="2" destOrd="0" presId="urn:microsoft.com/office/officeart/2018/2/layout/IconCircleList"/>
    <dgm:cxn modelId="{2E1A2C89-7AB1-4BAA-BCD3-626A02B86258}" type="presParOf" srcId="{044E21A3-5F69-4D26-AEFB-EE105F629F9E}" destId="{8D8F053F-ECBB-4DE0-95B6-7A1FB12A1BF1}"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26EA46-A34D-45F3-9380-BA6B23A10248}">
      <dsp:nvSpPr>
        <dsp:cNvPr id="0" name=""/>
        <dsp:cNvSpPr/>
      </dsp:nvSpPr>
      <dsp:spPr>
        <a:xfrm>
          <a:off x="0" y="570464"/>
          <a:ext cx="5019610" cy="694980"/>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Based on the 2025 survey </a:t>
          </a:r>
          <a:r>
            <a:rPr lang="en-US" sz="1800" i="1" kern="1200" dirty="0"/>
            <a:t>“Multi-Agent Coordination Across Diverse Applications.”</a:t>
          </a:r>
          <a:endParaRPr lang="en-US" sz="1800" kern="1200" dirty="0"/>
        </a:p>
      </dsp:txBody>
      <dsp:txXfrm>
        <a:off x="33926" y="604390"/>
        <a:ext cx="4951758" cy="627128"/>
      </dsp:txXfrm>
    </dsp:sp>
    <dsp:sp modelId="{7A65FD41-1B44-407C-B732-CCD297BB0969}">
      <dsp:nvSpPr>
        <dsp:cNvPr id="0" name=""/>
        <dsp:cNvSpPr/>
      </dsp:nvSpPr>
      <dsp:spPr>
        <a:xfrm>
          <a:off x="0" y="1317285"/>
          <a:ext cx="5019610" cy="694980"/>
        </a:xfrm>
        <a:prstGeom prst="roundRect">
          <a:avLst/>
        </a:prstGeom>
        <a:gradFill rotWithShape="0">
          <a:gsLst>
            <a:gs pos="0">
              <a:schemeClr val="accent2">
                <a:hueOff val="-678113"/>
                <a:satOff val="-414"/>
                <a:lumOff val="1618"/>
                <a:alphaOff val="0"/>
                <a:tint val="96000"/>
                <a:lumMod val="100000"/>
              </a:schemeClr>
            </a:gs>
            <a:gs pos="78000">
              <a:schemeClr val="accent2">
                <a:hueOff val="-678113"/>
                <a:satOff val="-414"/>
                <a:lumOff val="1618"/>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Explores coordination across robots, vehicles, satellites, and LLM-based agents.</a:t>
          </a:r>
        </a:p>
      </dsp:txBody>
      <dsp:txXfrm>
        <a:off x="33926" y="1351211"/>
        <a:ext cx="4951758" cy="627128"/>
      </dsp:txXfrm>
    </dsp:sp>
    <dsp:sp modelId="{39969789-3375-4C5C-94C9-87FF3DD66B17}">
      <dsp:nvSpPr>
        <dsp:cNvPr id="0" name=""/>
        <dsp:cNvSpPr/>
      </dsp:nvSpPr>
      <dsp:spPr>
        <a:xfrm>
          <a:off x="0" y="2064104"/>
          <a:ext cx="5019610" cy="694980"/>
        </a:xfrm>
        <a:prstGeom prst="roundRect">
          <a:avLst/>
        </a:prstGeom>
        <a:gradFill rotWithShape="0">
          <a:gsLst>
            <a:gs pos="0">
              <a:schemeClr val="accent2">
                <a:hueOff val="-1356225"/>
                <a:satOff val="-828"/>
                <a:lumOff val="3235"/>
                <a:alphaOff val="0"/>
                <a:tint val="96000"/>
                <a:lumMod val="100000"/>
              </a:schemeClr>
            </a:gs>
            <a:gs pos="78000">
              <a:schemeClr val="accent2">
                <a:hueOff val="-1356225"/>
                <a:satOff val="-828"/>
                <a:lumOff val="3235"/>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Provides a </a:t>
          </a:r>
          <a:r>
            <a:rPr lang="en-US" sz="1800" b="1" kern="1200"/>
            <a:t>unified framework</a:t>
          </a:r>
          <a:r>
            <a:rPr lang="en-US" sz="1800" kern="1200"/>
            <a:t> for understanding multi-agent behavior.</a:t>
          </a:r>
        </a:p>
      </dsp:txBody>
      <dsp:txXfrm>
        <a:off x="33926" y="2098030"/>
        <a:ext cx="4951758" cy="627128"/>
      </dsp:txXfrm>
    </dsp:sp>
    <dsp:sp modelId="{C6DB3EE5-1838-418A-9487-7B203794C30D}">
      <dsp:nvSpPr>
        <dsp:cNvPr id="0" name=""/>
        <dsp:cNvSpPr/>
      </dsp:nvSpPr>
      <dsp:spPr>
        <a:xfrm>
          <a:off x="0" y="2810924"/>
          <a:ext cx="5019610" cy="694980"/>
        </a:xfrm>
        <a:prstGeom prst="roundRect">
          <a:avLst/>
        </a:prstGeom>
        <a:gradFill rotWithShape="0">
          <a:gsLst>
            <a:gs pos="0">
              <a:schemeClr val="accent2">
                <a:hueOff val="-2034338"/>
                <a:satOff val="-1242"/>
                <a:lumOff val="4853"/>
                <a:alphaOff val="0"/>
                <a:tint val="96000"/>
                <a:lumMod val="100000"/>
              </a:schemeClr>
            </a:gs>
            <a:gs pos="78000">
              <a:schemeClr val="accent2">
                <a:hueOff val="-2034338"/>
                <a:satOff val="-1242"/>
                <a:lumOff val="4853"/>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Fits the assignment focus: taxonomy, approaches, architecture, and AI engineering.</a:t>
          </a:r>
        </a:p>
      </dsp:txBody>
      <dsp:txXfrm>
        <a:off x="33926" y="2844850"/>
        <a:ext cx="4951758" cy="627128"/>
      </dsp:txXfrm>
    </dsp:sp>
    <dsp:sp modelId="{5F8CF681-6248-4D37-9751-B38885AD2121}">
      <dsp:nvSpPr>
        <dsp:cNvPr id="0" name=""/>
        <dsp:cNvSpPr/>
      </dsp:nvSpPr>
      <dsp:spPr>
        <a:xfrm>
          <a:off x="0" y="3557744"/>
          <a:ext cx="5019610" cy="694980"/>
        </a:xfrm>
        <a:prstGeom prst="roundRect">
          <a:avLst/>
        </a:prstGeom>
        <a:gradFill rotWithShape="0">
          <a:gsLst>
            <a:gs pos="0">
              <a:schemeClr val="accent2">
                <a:hueOff val="-2712450"/>
                <a:satOff val="-1656"/>
                <a:lumOff val="6471"/>
                <a:alphaOff val="0"/>
                <a:tint val="96000"/>
                <a:lumMod val="100000"/>
              </a:schemeClr>
            </a:gs>
            <a:gs pos="78000">
              <a:schemeClr val="accent2">
                <a:hueOff val="-2712450"/>
                <a:satOff val="-1656"/>
                <a:lumOff val="6471"/>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Bridges classical multi-agent systems with </a:t>
          </a:r>
          <a:r>
            <a:rPr lang="en-US" sz="1800" b="1" kern="1200"/>
            <a:t>modern generative AI and LLM agents</a:t>
          </a:r>
          <a:r>
            <a:rPr lang="en-US" sz="1800" kern="1200"/>
            <a:t>.</a:t>
          </a:r>
        </a:p>
      </dsp:txBody>
      <dsp:txXfrm>
        <a:off x="33926" y="3591670"/>
        <a:ext cx="4951758" cy="6271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064B31-DD56-4AC0-A5A6-C456F8F3FD6E}">
      <dsp:nvSpPr>
        <dsp:cNvPr id="0" name=""/>
        <dsp:cNvSpPr/>
      </dsp:nvSpPr>
      <dsp:spPr>
        <a:xfrm>
          <a:off x="0" y="499"/>
          <a:ext cx="7213600" cy="116928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13184A-76D6-4DE7-8CCE-886D9643B237}">
      <dsp:nvSpPr>
        <dsp:cNvPr id="0" name=""/>
        <dsp:cNvSpPr/>
      </dsp:nvSpPr>
      <dsp:spPr>
        <a:xfrm>
          <a:off x="353707" y="263587"/>
          <a:ext cx="643104" cy="6431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9331094-8A3D-4A19-9A21-62FDB77BF641}">
      <dsp:nvSpPr>
        <dsp:cNvPr id="0" name=""/>
        <dsp:cNvSpPr/>
      </dsp:nvSpPr>
      <dsp:spPr>
        <a:xfrm>
          <a:off x="1350519" y="499"/>
          <a:ext cx="586308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622300">
            <a:lnSpc>
              <a:spcPct val="90000"/>
            </a:lnSpc>
            <a:spcBef>
              <a:spcPct val="0"/>
            </a:spcBef>
            <a:spcAft>
              <a:spcPct val="35000"/>
            </a:spcAft>
            <a:buNone/>
          </a:pPr>
          <a:r>
            <a:rPr lang="en-US" sz="1400" b="0" i="0" kern="1200" baseline="0"/>
            <a:t>Coordination refers to how multiple agents manage their </a:t>
          </a:r>
          <a:r>
            <a:rPr lang="en-US" sz="1400" b="1" i="0" kern="1200" baseline="0"/>
            <a:t>dependencies</a:t>
          </a:r>
          <a:r>
            <a:rPr lang="en-US" sz="1400" b="0" i="0" kern="1200" baseline="0"/>
            <a:t> so the whole system behaves smoothly. Each agent has limited local information, but their actions influence others—for example, if one robot blocks a hallway, the rest are affected.</a:t>
          </a:r>
          <a:endParaRPr lang="en-US" sz="1400" kern="1200"/>
        </a:p>
      </dsp:txBody>
      <dsp:txXfrm>
        <a:off x="1350519" y="499"/>
        <a:ext cx="5863080" cy="1169280"/>
      </dsp:txXfrm>
    </dsp:sp>
    <dsp:sp modelId="{1F7A9822-5F55-4609-AB4C-254C35EE73B3}">
      <dsp:nvSpPr>
        <dsp:cNvPr id="0" name=""/>
        <dsp:cNvSpPr/>
      </dsp:nvSpPr>
      <dsp:spPr>
        <a:xfrm>
          <a:off x="0" y="1462100"/>
          <a:ext cx="7213600" cy="116928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163342-1D57-484A-8FDB-AF8816A954E6}">
      <dsp:nvSpPr>
        <dsp:cNvPr id="0" name=""/>
        <dsp:cNvSpPr/>
      </dsp:nvSpPr>
      <dsp:spPr>
        <a:xfrm>
          <a:off x="353707" y="1725188"/>
          <a:ext cx="643104" cy="6431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83DD324-DF90-4448-A030-E4CE972EFDE6}">
      <dsp:nvSpPr>
        <dsp:cNvPr id="0" name=""/>
        <dsp:cNvSpPr/>
      </dsp:nvSpPr>
      <dsp:spPr>
        <a:xfrm>
          <a:off x="1350519" y="1462100"/>
          <a:ext cx="586308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622300">
            <a:lnSpc>
              <a:spcPct val="90000"/>
            </a:lnSpc>
            <a:spcBef>
              <a:spcPct val="0"/>
            </a:spcBef>
            <a:spcAft>
              <a:spcPct val="35000"/>
            </a:spcAft>
            <a:buNone/>
          </a:pPr>
          <a:r>
            <a:rPr lang="en-US" sz="1400" b="0" i="0" kern="1200" baseline="0"/>
            <a:t>The survey defines coordination as agents interacting and making decisions to improve </a:t>
          </a:r>
          <a:r>
            <a:rPr lang="en-US" sz="1400" b="1" i="0" kern="1200" baseline="0"/>
            <a:t>overall system performance</a:t>
          </a:r>
          <a:r>
            <a:rPr lang="en-US" sz="1400" b="0" i="0" kern="1200" baseline="0"/>
            <a:t>, while balancing their own individual goals.</a:t>
          </a:r>
          <a:endParaRPr lang="en-US" sz="1400" kern="1200"/>
        </a:p>
      </dsp:txBody>
      <dsp:txXfrm>
        <a:off x="1350519" y="1462100"/>
        <a:ext cx="5863080" cy="1169280"/>
      </dsp:txXfrm>
    </dsp:sp>
    <dsp:sp modelId="{F75A020D-F14D-47AA-BBA9-0D7E0530A27A}">
      <dsp:nvSpPr>
        <dsp:cNvPr id="0" name=""/>
        <dsp:cNvSpPr/>
      </dsp:nvSpPr>
      <dsp:spPr>
        <a:xfrm>
          <a:off x="0" y="2923701"/>
          <a:ext cx="7213600" cy="116928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6821F8-2F79-4BA0-AF55-930A72581710}">
      <dsp:nvSpPr>
        <dsp:cNvPr id="0" name=""/>
        <dsp:cNvSpPr/>
      </dsp:nvSpPr>
      <dsp:spPr>
        <a:xfrm>
          <a:off x="353707" y="3186789"/>
          <a:ext cx="643104" cy="6431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AE1F165-038A-4C8A-A84C-DCC09E958DE9}">
      <dsp:nvSpPr>
        <dsp:cNvPr id="0" name=""/>
        <dsp:cNvSpPr/>
      </dsp:nvSpPr>
      <dsp:spPr>
        <a:xfrm>
          <a:off x="1350519" y="2923701"/>
          <a:ext cx="586308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622300">
            <a:lnSpc>
              <a:spcPct val="90000"/>
            </a:lnSpc>
            <a:spcBef>
              <a:spcPct val="0"/>
            </a:spcBef>
            <a:spcAft>
              <a:spcPct val="35000"/>
            </a:spcAft>
            <a:buNone/>
          </a:pPr>
          <a:r>
            <a:rPr lang="en-US" sz="1400" b="0" i="0" kern="1200" baseline="0"/>
            <a:t>This leads to two core questions:</a:t>
          </a:r>
          <a:br>
            <a:rPr lang="en-US" sz="1400" b="0" i="0" kern="1200" baseline="0"/>
          </a:br>
          <a:r>
            <a:rPr lang="en-US" sz="1400" b="1" i="0" kern="1200" baseline="0"/>
            <a:t>• Who should each agent pay attention to?</a:t>
          </a:r>
          <a:br>
            <a:rPr lang="en-US" sz="1400" b="0" i="0" kern="1200" baseline="0"/>
          </a:br>
          <a:r>
            <a:rPr lang="en-US" sz="1400" b="1" i="0" kern="1200" baseline="0"/>
            <a:t>• What joint decisions should they make so the group, not just the individual, succeeds?</a:t>
          </a:r>
          <a:endParaRPr lang="en-US" sz="1400" kern="1200"/>
        </a:p>
      </dsp:txBody>
      <dsp:txXfrm>
        <a:off x="1350519" y="2923701"/>
        <a:ext cx="5863080" cy="11692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19B69B-CC98-4740-87CD-27B8BECC325B}">
      <dsp:nvSpPr>
        <dsp:cNvPr id="0" name=""/>
        <dsp:cNvSpPr/>
      </dsp:nvSpPr>
      <dsp:spPr>
        <a:xfrm>
          <a:off x="6340" y="530757"/>
          <a:ext cx="1894978" cy="1136987"/>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0" i="0" kern="1200" baseline="0"/>
            <a:t>The survey introduces a simple three-step loop that applies to any coordination problem:</a:t>
          </a:r>
          <a:endParaRPr lang="en-US" sz="1000" kern="1200"/>
        </a:p>
      </dsp:txBody>
      <dsp:txXfrm>
        <a:off x="39641" y="564058"/>
        <a:ext cx="1828376" cy="1070385"/>
      </dsp:txXfrm>
    </dsp:sp>
    <dsp:sp modelId="{32FE7397-36C7-4B40-B803-98F1B378E972}">
      <dsp:nvSpPr>
        <dsp:cNvPr id="0" name=""/>
        <dsp:cNvSpPr/>
      </dsp:nvSpPr>
      <dsp:spPr>
        <a:xfrm>
          <a:off x="2068077" y="864274"/>
          <a:ext cx="401735" cy="469954"/>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2068077" y="958265"/>
        <a:ext cx="281215" cy="281972"/>
      </dsp:txXfrm>
    </dsp:sp>
    <dsp:sp modelId="{97778544-6243-4DE4-915C-24E7E694D79B}">
      <dsp:nvSpPr>
        <dsp:cNvPr id="0" name=""/>
        <dsp:cNvSpPr/>
      </dsp:nvSpPr>
      <dsp:spPr>
        <a:xfrm>
          <a:off x="2659310" y="530757"/>
          <a:ext cx="1894978" cy="1136987"/>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i="0" kern="1200" baseline="0"/>
            <a:t>1. Evaluate system performance</a:t>
          </a:r>
          <a:r>
            <a:rPr lang="en-US" sz="1000" b="0" i="0" kern="1200" baseline="0"/>
            <a:t> – How well is the team doing right now? Are there collisions, delays, or wasted effort?</a:t>
          </a:r>
          <a:endParaRPr lang="en-US" sz="1000" kern="1200"/>
        </a:p>
      </dsp:txBody>
      <dsp:txXfrm>
        <a:off x="2692611" y="564058"/>
        <a:ext cx="1828376" cy="1070385"/>
      </dsp:txXfrm>
    </dsp:sp>
    <dsp:sp modelId="{CAE95A49-58EB-4DA7-8C17-A47F26510DF0}">
      <dsp:nvSpPr>
        <dsp:cNvPr id="0" name=""/>
        <dsp:cNvSpPr/>
      </dsp:nvSpPr>
      <dsp:spPr>
        <a:xfrm>
          <a:off x="4721047" y="864274"/>
          <a:ext cx="401735" cy="469954"/>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4721047" y="958265"/>
        <a:ext cx="281215" cy="281972"/>
      </dsp:txXfrm>
    </dsp:sp>
    <dsp:sp modelId="{8BE7C5B6-3825-4EAC-96E9-BCC44E8FABB1}">
      <dsp:nvSpPr>
        <dsp:cNvPr id="0" name=""/>
        <dsp:cNvSpPr/>
      </dsp:nvSpPr>
      <dsp:spPr>
        <a:xfrm>
          <a:off x="5312281" y="530757"/>
          <a:ext cx="1894978" cy="1136987"/>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i="0" kern="1200" baseline="0"/>
            <a:t>2. Decide who to coordinate with</a:t>
          </a:r>
          <a:r>
            <a:rPr lang="en-US" sz="1000" b="0" i="0" kern="1200" baseline="0"/>
            <a:t> – Agents identify relevant neighbors, teams, or clusters based on their dependencies.</a:t>
          </a:r>
          <a:endParaRPr lang="en-US" sz="1000" kern="1200"/>
        </a:p>
      </dsp:txBody>
      <dsp:txXfrm>
        <a:off x="5345582" y="564058"/>
        <a:ext cx="1828376" cy="1070385"/>
      </dsp:txXfrm>
    </dsp:sp>
    <dsp:sp modelId="{11A9A5EB-9CC7-464C-97C8-68C88636B561}">
      <dsp:nvSpPr>
        <dsp:cNvPr id="0" name=""/>
        <dsp:cNvSpPr/>
      </dsp:nvSpPr>
      <dsp:spPr>
        <a:xfrm rot="5400000">
          <a:off x="6058902" y="1800393"/>
          <a:ext cx="401735" cy="469954"/>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5400000">
        <a:off x="6118784" y="1834502"/>
        <a:ext cx="281972" cy="281215"/>
      </dsp:txXfrm>
    </dsp:sp>
    <dsp:sp modelId="{B983C733-810F-4002-A27F-1FA95C0087FC}">
      <dsp:nvSpPr>
        <dsp:cNvPr id="0" name=""/>
        <dsp:cNvSpPr/>
      </dsp:nvSpPr>
      <dsp:spPr>
        <a:xfrm>
          <a:off x="5312281" y="2425736"/>
          <a:ext cx="1894978" cy="1136987"/>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i="0" kern="1200" baseline="0"/>
            <a:t>3. Decide how to coordinate</a:t>
          </a:r>
          <a:r>
            <a:rPr lang="en-US" sz="1000" b="0" i="0" kern="1200" baseline="0"/>
            <a:t> – Agents update their actions, plans, or messages to improve the global outcome.</a:t>
          </a:r>
          <a:endParaRPr lang="en-US" sz="1000" kern="1200"/>
        </a:p>
      </dsp:txBody>
      <dsp:txXfrm>
        <a:off x="5345582" y="2459037"/>
        <a:ext cx="1828376" cy="1070385"/>
      </dsp:txXfrm>
    </dsp:sp>
    <dsp:sp modelId="{0C4F13D2-7818-4605-8337-88A8EC230882}">
      <dsp:nvSpPr>
        <dsp:cNvPr id="0" name=""/>
        <dsp:cNvSpPr/>
      </dsp:nvSpPr>
      <dsp:spPr>
        <a:xfrm rot="10800000">
          <a:off x="4743787" y="2759253"/>
          <a:ext cx="401735" cy="469954"/>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10800000">
        <a:off x="4864307" y="2853244"/>
        <a:ext cx="281215" cy="281972"/>
      </dsp:txXfrm>
    </dsp:sp>
    <dsp:sp modelId="{663E7F54-7999-4D84-A1FD-77061F35FF77}">
      <dsp:nvSpPr>
        <dsp:cNvPr id="0" name=""/>
        <dsp:cNvSpPr/>
      </dsp:nvSpPr>
      <dsp:spPr>
        <a:xfrm>
          <a:off x="2659310" y="2425736"/>
          <a:ext cx="1894978" cy="1136987"/>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0" i="0" kern="1200" baseline="0"/>
            <a:t>This loop continuously repeats and can be implemented in different ways:</a:t>
          </a:r>
          <a:br>
            <a:rPr lang="en-US" sz="1000" b="0" i="0" kern="1200" baseline="0"/>
          </a:br>
          <a:r>
            <a:rPr lang="en-US" sz="1000" b="1" i="0" kern="1200" baseline="0"/>
            <a:t>centralized</a:t>
          </a:r>
          <a:r>
            <a:rPr lang="en-US" sz="1000" b="0" i="0" kern="1200" baseline="0"/>
            <a:t>, </a:t>
          </a:r>
          <a:r>
            <a:rPr lang="en-US" sz="1000" b="1" i="0" kern="1200" baseline="0"/>
            <a:t>hierarchical</a:t>
          </a:r>
          <a:r>
            <a:rPr lang="en-US" sz="1000" b="0" i="0" kern="1200" baseline="0"/>
            <a:t>, or </a:t>
          </a:r>
          <a:r>
            <a:rPr lang="en-US" sz="1000" b="1" i="0" kern="1200" baseline="0"/>
            <a:t>fully decentralized</a:t>
          </a:r>
          <a:r>
            <a:rPr lang="en-US" sz="1000" b="0" i="0" kern="1200" baseline="0"/>
            <a:t> depending on the system.</a:t>
          </a:r>
          <a:endParaRPr lang="en-US" sz="1000" kern="1200"/>
        </a:p>
      </dsp:txBody>
      <dsp:txXfrm>
        <a:off x="2692611" y="2459037"/>
        <a:ext cx="1828376" cy="107038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F8251F-AA95-4D96-84C2-C695C0A26D42}">
      <dsp:nvSpPr>
        <dsp:cNvPr id="0" name=""/>
        <dsp:cNvSpPr/>
      </dsp:nvSpPr>
      <dsp:spPr>
        <a:xfrm>
          <a:off x="0" y="0"/>
          <a:ext cx="5554471" cy="736826"/>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0" i="0" kern="1200" baseline="0"/>
            <a:t>Across different applications, three core categories of coordination tasks appear again and again:</a:t>
          </a:r>
          <a:endParaRPr lang="en-US" sz="1400" kern="1200"/>
        </a:p>
      </dsp:txBody>
      <dsp:txXfrm>
        <a:off x="21581" y="21581"/>
        <a:ext cx="4673169" cy="693664"/>
      </dsp:txXfrm>
    </dsp:sp>
    <dsp:sp modelId="{ED67ABE0-9E2C-4C68-AEA9-F8A2440D61CB}">
      <dsp:nvSpPr>
        <dsp:cNvPr id="0" name=""/>
        <dsp:cNvSpPr/>
      </dsp:nvSpPr>
      <dsp:spPr>
        <a:xfrm>
          <a:off x="414782" y="839163"/>
          <a:ext cx="5554471" cy="736826"/>
        </a:xfrm>
        <a:prstGeom prst="roundRect">
          <a:avLst>
            <a:gd name="adj" fmla="val 10000"/>
          </a:avLst>
        </a:prstGeom>
        <a:solidFill>
          <a:schemeClr val="accent2">
            <a:hueOff val="-678113"/>
            <a:satOff val="-414"/>
            <a:lumOff val="1618"/>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baseline="0"/>
            <a:t>• Coordinated Learning</a:t>
          </a:r>
          <a:r>
            <a:rPr lang="en-US" sz="1400" b="0" i="0" kern="1200" baseline="0"/>
            <a:t> – agents learn from shared experiences, joint rewards, or a centralized critic to ensure stable and efficient learning.</a:t>
          </a:r>
          <a:endParaRPr lang="en-US" sz="1400" kern="1200"/>
        </a:p>
      </dsp:txBody>
      <dsp:txXfrm>
        <a:off x="436363" y="860744"/>
        <a:ext cx="4617590" cy="693664"/>
      </dsp:txXfrm>
    </dsp:sp>
    <dsp:sp modelId="{8719805D-9F3D-4670-B101-61E34DE5751B}">
      <dsp:nvSpPr>
        <dsp:cNvPr id="0" name=""/>
        <dsp:cNvSpPr/>
      </dsp:nvSpPr>
      <dsp:spPr>
        <a:xfrm>
          <a:off x="829564" y="1678327"/>
          <a:ext cx="5554471" cy="736826"/>
        </a:xfrm>
        <a:prstGeom prst="roundRect">
          <a:avLst>
            <a:gd name="adj" fmla="val 10000"/>
          </a:avLst>
        </a:prstGeom>
        <a:solidFill>
          <a:schemeClr val="accent2">
            <a:hueOff val="-1356225"/>
            <a:satOff val="-828"/>
            <a:lumOff val="323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baseline="0"/>
            <a:t>• Communication &amp; Cooperation</a:t>
          </a:r>
          <a:r>
            <a:rPr lang="en-US" sz="1400" b="0" i="0" kern="1200" baseline="0"/>
            <a:t> – agents decide what information to exchange, with whom, and how to structure messages to solve tasks together.</a:t>
          </a:r>
          <a:endParaRPr lang="en-US" sz="1400" kern="1200"/>
        </a:p>
      </dsp:txBody>
      <dsp:txXfrm>
        <a:off x="851145" y="1699908"/>
        <a:ext cx="4617590" cy="693664"/>
      </dsp:txXfrm>
    </dsp:sp>
    <dsp:sp modelId="{DC1BF8F6-86C7-454E-9DF9-52CF79557E64}">
      <dsp:nvSpPr>
        <dsp:cNvPr id="0" name=""/>
        <dsp:cNvSpPr/>
      </dsp:nvSpPr>
      <dsp:spPr>
        <a:xfrm>
          <a:off x="1244346" y="2517491"/>
          <a:ext cx="5554471" cy="736826"/>
        </a:xfrm>
        <a:prstGeom prst="roundRect">
          <a:avLst>
            <a:gd name="adj" fmla="val 10000"/>
          </a:avLst>
        </a:prstGeom>
        <a:solidFill>
          <a:schemeClr val="accent2">
            <a:hueOff val="-2034338"/>
            <a:satOff val="-1242"/>
            <a:lumOff val="485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baseline="0"/>
            <a:t>• Conflict-of-Interest Resolution</a:t>
          </a:r>
          <a:r>
            <a:rPr lang="en-US" sz="1400" b="0" i="0" kern="1200" baseline="0"/>
            <a:t> – agents avoid collisions, deadlocks, and resource conflicts while still pursuing their goals.</a:t>
          </a:r>
          <a:endParaRPr lang="en-US" sz="1400" kern="1200"/>
        </a:p>
      </dsp:txBody>
      <dsp:txXfrm>
        <a:off x="1265927" y="2539072"/>
        <a:ext cx="4617590" cy="693664"/>
      </dsp:txXfrm>
    </dsp:sp>
    <dsp:sp modelId="{472CE4E9-FB61-428C-9B28-9DCDD5E710BE}">
      <dsp:nvSpPr>
        <dsp:cNvPr id="0" name=""/>
        <dsp:cNvSpPr/>
      </dsp:nvSpPr>
      <dsp:spPr>
        <a:xfrm>
          <a:off x="1659128" y="3356655"/>
          <a:ext cx="5554471" cy="736826"/>
        </a:xfrm>
        <a:prstGeom prst="roundRect">
          <a:avLst>
            <a:gd name="adj" fmla="val 10000"/>
          </a:avLst>
        </a:prstGeom>
        <a:solidFill>
          <a:schemeClr val="accent2">
            <a:hueOff val="-2712450"/>
            <a:satOff val="-1656"/>
            <a:lumOff val="647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0" i="0" kern="1200" baseline="0"/>
            <a:t>These three themes form the foundation for understanding coordination across all domains discussed in the paper.</a:t>
          </a:r>
          <a:endParaRPr lang="en-US" sz="1400" kern="1200"/>
        </a:p>
      </dsp:txBody>
      <dsp:txXfrm>
        <a:off x="1680709" y="3378236"/>
        <a:ext cx="4617590" cy="693664"/>
      </dsp:txXfrm>
    </dsp:sp>
    <dsp:sp modelId="{6EB46C56-89F9-43A7-9833-DF7FE867E1F6}">
      <dsp:nvSpPr>
        <dsp:cNvPr id="0" name=""/>
        <dsp:cNvSpPr/>
      </dsp:nvSpPr>
      <dsp:spPr>
        <a:xfrm>
          <a:off x="5075534" y="538292"/>
          <a:ext cx="478937" cy="478937"/>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183295" y="538292"/>
        <a:ext cx="263415" cy="360400"/>
      </dsp:txXfrm>
    </dsp:sp>
    <dsp:sp modelId="{AD30A13E-95BA-4A6A-836E-1BC9603B1C7D}">
      <dsp:nvSpPr>
        <dsp:cNvPr id="0" name=""/>
        <dsp:cNvSpPr/>
      </dsp:nvSpPr>
      <dsp:spPr>
        <a:xfrm>
          <a:off x="5490316" y="1377456"/>
          <a:ext cx="478937" cy="478937"/>
        </a:xfrm>
        <a:prstGeom prst="downArrow">
          <a:avLst>
            <a:gd name="adj1" fmla="val 55000"/>
            <a:gd name="adj2" fmla="val 45000"/>
          </a:avLst>
        </a:prstGeom>
        <a:solidFill>
          <a:schemeClr val="accent2">
            <a:tint val="40000"/>
            <a:alpha val="90000"/>
            <a:hueOff val="-1247123"/>
            <a:satOff val="2509"/>
            <a:lumOff val="382"/>
            <a:alphaOff val="0"/>
          </a:schemeClr>
        </a:solidFill>
        <a:ln w="19050" cap="rnd" cmpd="sng" algn="ctr">
          <a:solidFill>
            <a:schemeClr val="accent2">
              <a:tint val="40000"/>
              <a:alpha val="90000"/>
              <a:hueOff val="-1247123"/>
              <a:satOff val="2509"/>
              <a:lumOff val="38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598077" y="1377456"/>
        <a:ext cx="263415" cy="360400"/>
      </dsp:txXfrm>
    </dsp:sp>
    <dsp:sp modelId="{FC874343-C61F-48E3-B02C-78F43704D66E}">
      <dsp:nvSpPr>
        <dsp:cNvPr id="0" name=""/>
        <dsp:cNvSpPr/>
      </dsp:nvSpPr>
      <dsp:spPr>
        <a:xfrm>
          <a:off x="5905098" y="2204340"/>
          <a:ext cx="478937" cy="478937"/>
        </a:xfrm>
        <a:prstGeom prst="downArrow">
          <a:avLst>
            <a:gd name="adj1" fmla="val 55000"/>
            <a:gd name="adj2" fmla="val 45000"/>
          </a:avLst>
        </a:prstGeom>
        <a:solidFill>
          <a:schemeClr val="accent2">
            <a:tint val="40000"/>
            <a:alpha val="90000"/>
            <a:hueOff val="-2494246"/>
            <a:satOff val="5017"/>
            <a:lumOff val="765"/>
            <a:alphaOff val="0"/>
          </a:schemeClr>
        </a:solidFill>
        <a:ln w="19050" cap="rnd" cmpd="sng" algn="ctr">
          <a:solidFill>
            <a:schemeClr val="accent2">
              <a:tint val="40000"/>
              <a:alpha val="90000"/>
              <a:hueOff val="-2494246"/>
              <a:satOff val="5017"/>
              <a:lumOff val="76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6012859" y="2204340"/>
        <a:ext cx="263415" cy="360400"/>
      </dsp:txXfrm>
    </dsp:sp>
    <dsp:sp modelId="{34B57CDF-B6B7-4D51-8EC7-24B0E2FEFA3D}">
      <dsp:nvSpPr>
        <dsp:cNvPr id="0" name=""/>
        <dsp:cNvSpPr/>
      </dsp:nvSpPr>
      <dsp:spPr>
        <a:xfrm>
          <a:off x="6319880" y="3051690"/>
          <a:ext cx="478937" cy="478937"/>
        </a:xfrm>
        <a:prstGeom prst="downArrow">
          <a:avLst>
            <a:gd name="adj1" fmla="val 55000"/>
            <a:gd name="adj2" fmla="val 45000"/>
          </a:avLst>
        </a:prstGeom>
        <a:solidFill>
          <a:schemeClr val="accent2">
            <a:tint val="40000"/>
            <a:alpha val="90000"/>
            <a:hueOff val="-3741368"/>
            <a:satOff val="7526"/>
            <a:lumOff val="1147"/>
            <a:alphaOff val="0"/>
          </a:schemeClr>
        </a:solidFill>
        <a:ln w="19050" cap="rnd" cmpd="sng" algn="ctr">
          <a:solidFill>
            <a:schemeClr val="accent2">
              <a:tint val="40000"/>
              <a:alpha val="90000"/>
              <a:hueOff val="-3741368"/>
              <a:satOff val="7526"/>
              <a:lumOff val="114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6427641" y="3051690"/>
        <a:ext cx="263415" cy="3604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237336-E1AA-4E15-96D9-33F8C1F093F6}">
      <dsp:nvSpPr>
        <dsp:cNvPr id="0" name=""/>
        <dsp:cNvSpPr/>
      </dsp:nvSpPr>
      <dsp:spPr>
        <a:xfrm>
          <a:off x="4112975" y="89392"/>
          <a:ext cx="1451173" cy="14511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0" i="0" kern="1200" baseline="0"/>
            <a:t>Satellite constellations act as </a:t>
          </a:r>
          <a:r>
            <a:rPr lang="en-US" sz="1300" b="1" i="0" kern="1200" baseline="0"/>
            <a:t>multi-agent systems</a:t>
          </a:r>
          <a:r>
            <a:rPr lang="en-US" sz="1300" b="0" i="0" kern="1200" baseline="0"/>
            <a:t> coordinating orbits and coverage.</a:t>
          </a:r>
          <a:endParaRPr lang="en-US" sz="1300" kern="1200"/>
        </a:p>
      </dsp:txBody>
      <dsp:txXfrm>
        <a:off x="4112975" y="89392"/>
        <a:ext cx="1451173" cy="1451173"/>
      </dsp:txXfrm>
    </dsp:sp>
    <dsp:sp modelId="{9C1F79AB-AFF1-46D8-8FD3-9952A3FD1B78}">
      <dsp:nvSpPr>
        <dsp:cNvPr id="0" name=""/>
        <dsp:cNvSpPr/>
      </dsp:nvSpPr>
      <dsp:spPr>
        <a:xfrm>
          <a:off x="1558264" y="-1794"/>
          <a:ext cx="4097070" cy="4097070"/>
        </a:xfrm>
        <a:prstGeom prst="circularArrow">
          <a:avLst>
            <a:gd name="adj1" fmla="val 6907"/>
            <a:gd name="adj2" fmla="val 465733"/>
            <a:gd name="adj3" fmla="val 547812"/>
            <a:gd name="adj4" fmla="val 20586455"/>
            <a:gd name="adj5" fmla="val 8058"/>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67E1B6F-C5D1-446E-AC95-4331384697FD}">
      <dsp:nvSpPr>
        <dsp:cNvPr id="0" name=""/>
        <dsp:cNvSpPr/>
      </dsp:nvSpPr>
      <dsp:spPr>
        <a:xfrm>
          <a:off x="4112975" y="2552916"/>
          <a:ext cx="1451173" cy="14511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0" i="0" kern="1200" baseline="0"/>
            <a:t>Small-satellite swarms aim to be </a:t>
          </a:r>
          <a:r>
            <a:rPr lang="en-US" sz="1300" b="1" i="0" kern="1200" baseline="0"/>
            <a:t>self-organizing</a:t>
          </a:r>
          <a:r>
            <a:rPr lang="en-US" sz="1300" b="0" i="0" kern="1200" baseline="0"/>
            <a:t> and robust.</a:t>
          </a:r>
          <a:endParaRPr lang="en-US" sz="1300" kern="1200"/>
        </a:p>
      </dsp:txBody>
      <dsp:txXfrm>
        <a:off x="4112975" y="2552916"/>
        <a:ext cx="1451173" cy="1451173"/>
      </dsp:txXfrm>
    </dsp:sp>
    <dsp:sp modelId="{FF9FCBD0-39BC-440F-AD99-39058E71048B}">
      <dsp:nvSpPr>
        <dsp:cNvPr id="0" name=""/>
        <dsp:cNvSpPr/>
      </dsp:nvSpPr>
      <dsp:spPr>
        <a:xfrm>
          <a:off x="1558264" y="-1794"/>
          <a:ext cx="4097070" cy="4097070"/>
        </a:xfrm>
        <a:prstGeom prst="circularArrow">
          <a:avLst>
            <a:gd name="adj1" fmla="val 6907"/>
            <a:gd name="adj2" fmla="val 465733"/>
            <a:gd name="adj3" fmla="val 5947812"/>
            <a:gd name="adj4" fmla="val 4386455"/>
            <a:gd name="adj5" fmla="val 8058"/>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166579E-7761-495A-859B-1CBC4454D387}">
      <dsp:nvSpPr>
        <dsp:cNvPr id="0" name=""/>
        <dsp:cNvSpPr/>
      </dsp:nvSpPr>
      <dsp:spPr>
        <a:xfrm>
          <a:off x="1649451" y="2552916"/>
          <a:ext cx="1451173" cy="14511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0" i="0" kern="1200" baseline="0"/>
            <a:t>Main challenges:</a:t>
          </a:r>
          <a:br>
            <a:rPr lang="en-US" sz="1300" b="0" i="0" kern="1200" baseline="0"/>
          </a:br>
          <a:r>
            <a:rPr lang="en-US" sz="1300" b="1" i="0" kern="1200" baseline="0"/>
            <a:t>• Orbit design</a:t>
          </a:r>
          <a:br>
            <a:rPr lang="en-US" sz="1300" b="0" i="0" kern="1200" baseline="0"/>
          </a:br>
          <a:r>
            <a:rPr lang="en-US" sz="1300" b="1" i="0" kern="1200" baseline="0"/>
            <a:t>• Task/beam scheduling</a:t>
          </a:r>
          <a:br>
            <a:rPr lang="en-US" sz="1300" b="0" i="0" kern="1200" baseline="0"/>
          </a:br>
          <a:r>
            <a:rPr lang="en-US" sz="1300" b="1" i="0" kern="1200" baseline="0"/>
            <a:t>• Data routing in dynamic space networks</a:t>
          </a:r>
          <a:endParaRPr lang="en-US" sz="1300" kern="1200"/>
        </a:p>
      </dsp:txBody>
      <dsp:txXfrm>
        <a:off x="1649451" y="2552916"/>
        <a:ext cx="1451173" cy="1451173"/>
      </dsp:txXfrm>
    </dsp:sp>
    <dsp:sp modelId="{6FD76740-021A-4EA8-BA0A-9A409CA06C01}">
      <dsp:nvSpPr>
        <dsp:cNvPr id="0" name=""/>
        <dsp:cNvSpPr/>
      </dsp:nvSpPr>
      <dsp:spPr>
        <a:xfrm>
          <a:off x="1558264" y="-1794"/>
          <a:ext cx="4097070" cy="4097070"/>
        </a:xfrm>
        <a:prstGeom prst="circularArrow">
          <a:avLst>
            <a:gd name="adj1" fmla="val 6907"/>
            <a:gd name="adj2" fmla="val 465733"/>
            <a:gd name="adj3" fmla="val 11347812"/>
            <a:gd name="adj4" fmla="val 9786455"/>
            <a:gd name="adj5" fmla="val 8058"/>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9D01F68-B774-47A6-9A91-8D32EDB30433}">
      <dsp:nvSpPr>
        <dsp:cNvPr id="0" name=""/>
        <dsp:cNvSpPr/>
      </dsp:nvSpPr>
      <dsp:spPr>
        <a:xfrm>
          <a:off x="1649451" y="89392"/>
          <a:ext cx="1451173" cy="14511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0" i="0" kern="1200" baseline="0" dirty="0"/>
            <a:t>Centralized control is not enough — systems rely on </a:t>
          </a:r>
          <a:r>
            <a:rPr lang="en-US" sz="1300" b="1" i="0" kern="1200" baseline="0" dirty="0"/>
            <a:t>distributed + hierarchical coordination</a:t>
          </a:r>
          <a:r>
            <a:rPr lang="en-US" sz="1300" b="0" i="0" kern="1200" baseline="0" dirty="0"/>
            <a:t> for scalability and robustness.</a:t>
          </a:r>
          <a:endParaRPr lang="en-US" sz="1300" kern="1200" dirty="0"/>
        </a:p>
      </dsp:txBody>
      <dsp:txXfrm>
        <a:off x="1649451" y="89392"/>
        <a:ext cx="1451173" cy="1451173"/>
      </dsp:txXfrm>
    </dsp:sp>
    <dsp:sp modelId="{FE64CB0C-B109-424D-9F0D-5EE971893FE8}">
      <dsp:nvSpPr>
        <dsp:cNvPr id="0" name=""/>
        <dsp:cNvSpPr/>
      </dsp:nvSpPr>
      <dsp:spPr>
        <a:xfrm>
          <a:off x="1558264" y="-1794"/>
          <a:ext cx="4097070" cy="4097070"/>
        </a:xfrm>
        <a:prstGeom prst="circularArrow">
          <a:avLst>
            <a:gd name="adj1" fmla="val 6907"/>
            <a:gd name="adj2" fmla="val 465733"/>
            <a:gd name="adj3" fmla="val 16747812"/>
            <a:gd name="adj4" fmla="val 15186455"/>
            <a:gd name="adj5" fmla="val 8058"/>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904E25-1621-4187-9C9E-D32F559722D7}">
      <dsp:nvSpPr>
        <dsp:cNvPr id="0" name=""/>
        <dsp:cNvSpPr/>
      </dsp:nvSpPr>
      <dsp:spPr>
        <a:xfrm>
          <a:off x="0" y="12304"/>
          <a:ext cx="5019610" cy="1563046"/>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LLM agents act as </a:t>
          </a:r>
          <a:r>
            <a:rPr lang="en-US" sz="1900" b="1" kern="1200"/>
            <a:t>specialized roles</a:t>
          </a:r>
          <a:r>
            <a:rPr lang="en-US" sz="1900" kern="1200"/>
            <a:t> (coder, planner, critic, diplomat) communicating through natural language.</a:t>
          </a:r>
        </a:p>
      </dsp:txBody>
      <dsp:txXfrm>
        <a:off x="76302" y="88606"/>
        <a:ext cx="4867006" cy="1410442"/>
      </dsp:txXfrm>
    </dsp:sp>
    <dsp:sp modelId="{FE313FC4-E7E8-4AD4-9C80-BAAEFC5E14EB}">
      <dsp:nvSpPr>
        <dsp:cNvPr id="0" name=""/>
        <dsp:cNvSpPr/>
      </dsp:nvSpPr>
      <dsp:spPr>
        <a:xfrm>
          <a:off x="0" y="1630071"/>
          <a:ext cx="5019610" cy="1563046"/>
        </a:xfrm>
        <a:prstGeom prst="roundRect">
          <a:avLst/>
        </a:prstGeom>
        <a:gradFill rotWithShape="0">
          <a:gsLst>
            <a:gs pos="0">
              <a:schemeClr val="accent2">
                <a:hueOff val="-1356225"/>
                <a:satOff val="-828"/>
                <a:lumOff val="3235"/>
                <a:alphaOff val="0"/>
                <a:tint val="96000"/>
                <a:lumMod val="100000"/>
              </a:schemeClr>
            </a:gs>
            <a:gs pos="78000">
              <a:schemeClr val="accent2">
                <a:hueOff val="-1356225"/>
                <a:satOff val="-828"/>
                <a:lumOff val="3235"/>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They coordinate to:</a:t>
          </a:r>
          <a:br>
            <a:rPr lang="en-US" sz="1900" kern="1200"/>
          </a:br>
          <a:r>
            <a:rPr lang="en-US" sz="1900" b="1" kern="1200"/>
            <a:t>• Make decisions</a:t>
          </a:r>
          <a:r>
            <a:rPr lang="en-US" sz="1900" kern="1200"/>
            <a:t> (e.g., CAMEL)</a:t>
          </a:r>
          <a:br>
            <a:rPr lang="en-US" sz="1900" kern="1200"/>
          </a:br>
          <a:r>
            <a:rPr lang="en-US" sz="1900" b="1" kern="1200"/>
            <a:t>• Control robots</a:t>
          </a:r>
          <a:r>
            <a:rPr lang="en-US" sz="1900" kern="1200"/>
            <a:t> (language → motion)</a:t>
          </a:r>
          <a:br>
            <a:rPr lang="en-US" sz="1900" kern="1200"/>
          </a:br>
          <a:r>
            <a:rPr lang="en-US" sz="1900" b="1" kern="1200"/>
            <a:t>• Simulate societies</a:t>
          </a:r>
          <a:r>
            <a:rPr lang="en-US" sz="1900" kern="1200"/>
            <a:t> (large virtual agent groups)</a:t>
          </a:r>
        </a:p>
      </dsp:txBody>
      <dsp:txXfrm>
        <a:off x="76302" y="1706373"/>
        <a:ext cx="4867006" cy="1410442"/>
      </dsp:txXfrm>
    </dsp:sp>
    <dsp:sp modelId="{30C73412-994C-477A-9E64-213F20894BE1}">
      <dsp:nvSpPr>
        <dsp:cNvPr id="0" name=""/>
        <dsp:cNvSpPr/>
      </dsp:nvSpPr>
      <dsp:spPr>
        <a:xfrm>
          <a:off x="0" y="3247838"/>
          <a:ext cx="5019610" cy="1563046"/>
        </a:xfrm>
        <a:prstGeom prst="roundRect">
          <a:avLst/>
        </a:prstGeom>
        <a:gradFill rotWithShape="0">
          <a:gsLst>
            <a:gs pos="0">
              <a:schemeClr val="accent2">
                <a:hueOff val="-2712450"/>
                <a:satOff val="-1656"/>
                <a:lumOff val="6471"/>
                <a:alphaOff val="0"/>
                <a:tint val="96000"/>
                <a:lumMod val="100000"/>
              </a:schemeClr>
            </a:gs>
            <a:gs pos="78000">
              <a:schemeClr val="accent2">
                <a:hueOff val="-2712450"/>
                <a:satOff val="-1656"/>
                <a:lumOff val="6471"/>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They still face classic MAS challenges:</a:t>
          </a:r>
          <a:br>
            <a:rPr lang="en-US" sz="1900" kern="1200"/>
          </a:br>
          <a:r>
            <a:rPr lang="en-US" sz="1900" b="1" kern="1200"/>
            <a:t>who to talk to</a:t>
          </a:r>
          <a:r>
            <a:rPr lang="en-US" sz="1900" kern="1200"/>
            <a:t>, </a:t>
          </a:r>
          <a:r>
            <a:rPr lang="en-US" sz="1900" b="1" kern="1200"/>
            <a:t>what to share</a:t>
          </a:r>
          <a:r>
            <a:rPr lang="en-US" sz="1900" kern="1200"/>
            <a:t>, </a:t>
          </a:r>
          <a:r>
            <a:rPr lang="en-US" sz="1900" b="1" kern="1200"/>
            <a:t>how to align goals</a:t>
          </a:r>
          <a:r>
            <a:rPr lang="en-US" sz="1900" kern="1200"/>
            <a:t>.</a:t>
          </a:r>
        </a:p>
      </dsp:txBody>
      <dsp:txXfrm>
        <a:off x="76302" y="3324140"/>
        <a:ext cx="4867006" cy="141044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6541F3-08E7-4CF3-AFDA-A2A613802D13}">
      <dsp:nvSpPr>
        <dsp:cNvPr id="0" name=""/>
        <dsp:cNvSpPr/>
      </dsp:nvSpPr>
      <dsp:spPr>
        <a:xfrm>
          <a:off x="320565" y="45678"/>
          <a:ext cx="870114" cy="87011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D4185D-A3D0-4B29-B144-6CA1F0606D74}">
      <dsp:nvSpPr>
        <dsp:cNvPr id="0" name=""/>
        <dsp:cNvSpPr/>
      </dsp:nvSpPr>
      <dsp:spPr>
        <a:xfrm>
          <a:off x="503289" y="228402"/>
          <a:ext cx="504666" cy="50466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D282E89-E763-4818-AD4D-B3997D2653F6}">
      <dsp:nvSpPr>
        <dsp:cNvPr id="0" name=""/>
        <dsp:cNvSpPr/>
      </dsp:nvSpPr>
      <dsp:spPr>
        <a:xfrm>
          <a:off x="1377132" y="45678"/>
          <a:ext cx="2050982" cy="8701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b="0" i="0" kern="1200" baseline="0"/>
            <a:t>Key design principles for building reliable LLM agent systems:</a:t>
          </a:r>
          <a:endParaRPr lang="en-US" sz="1300" kern="1200"/>
        </a:p>
      </dsp:txBody>
      <dsp:txXfrm>
        <a:off x="1377132" y="45678"/>
        <a:ext cx="2050982" cy="870114"/>
      </dsp:txXfrm>
    </dsp:sp>
    <dsp:sp modelId="{914A7FBD-5B31-4C49-9CA4-9BE8B5D3656B}">
      <dsp:nvSpPr>
        <dsp:cNvPr id="0" name=""/>
        <dsp:cNvSpPr/>
      </dsp:nvSpPr>
      <dsp:spPr>
        <a:xfrm>
          <a:off x="3785484" y="45678"/>
          <a:ext cx="870114" cy="87011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F21C70-226A-45F8-B9BF-91E6DC1EBDAE}">
      <dsp:nvSpPr>
        <dsp:cNvPr id="0" name=""/>
        <dsp:cNvSpPr/>
      </dsp:nvSpPr>
      <dsp:spPr>
        <a:xfrm>
          <a:off x="3968208" y="228402"/>
          <a:ext cx="504666" cy="50466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52D71DC-14A3-40F0-A232-9BD486289762}">
      <dsp:nvSpPr>
        <dsp:cNvPr id="0" name=""/>
        <dsp:cNvSpPr/>
      </dsp:nvSpPr>
      <dsp:spPr>
        <a:xfrm>
          <a:off x="4842051" y="45678"/>
          <a:ext cx="2050982" cy="8701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b="1" i="0" kern="1200" baseline="0"/>
            <a:t>• Hybrid Hierarchies</a:t>
          </a:r>
          <a:r>
            <a:rPr lang="en-US" sz="1300" b="0" i="0" kern="1200" baseline="0"/>
            <a:t> – combine manager agents with local workers for scalability.</a:t>
          </a:r>
          <a:endParaRPr lang="en-US" sz="1300" kern="1200"/>
        </a:p>
      </dsp:txBody>
      <dsp:txXfrm>
        <a:off x="4842051" y="45678"/>
        <a:ext cx="2050982" cy="870114"/>
      </dsp:txXfrm>
    </dsp:sp>
    <dsp:sp modelId="{8596336F-2A39-4579-B769-57CCB759ED30}">
      <dsp:nvSpPr>
        <dsp:cNvPr id="0" name=""/>
        <dsp:cNvSpPr/>
      </dsp:nvSpPr>
      <dsp:spPr>
        <a:xfrm>
          <a:off x="320565" y="1611684"/>
          <a:ext cx="870114" cy="87011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18E60E-FA58-4EAC-AB0A-A8F3986D7D78}">
      <dsp:nvSpPr>
        <dsp:cNvPr id="0" name=""/>
        <dsp:cNvSpPr/>
      </dsp:nvSpPr>
      <dsp:spPr>
        <a:xfrm>
          <a:off x="503289" y="1794407"/>
          <a:ext cx="504666" cy="50466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B9CC841-1A96-42B6-A6AB-59F79E73BF10}">
      <dsp:nvSpPr>
        <dsp:cNvPr id="0" name=""/>
        <dsp:cNvSpPr/>
      </dsp:nvSpPr>
      <dsp:spPr>
        <a:xfrm>
          <a:off x="1377132" y="1611684"/>
          <a:ext cx="2050982" cy="8701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b="1" i="0" kern="1200" baseline="0"/>
            <a:t>• Structured Communication</a:t>
          </a:r>
          <a:r>
            <a:rPr lang="en-US" sz="1300" b="0" i="0" kern="1200" baseline="0"/>
            <a:t> – even natural-language messages need protocols and roles.</a:t>
          </a:r>
          <a:endParaRPr lang="en-US" sz="1300" kern="1200"/>
        </a:p>
      </dsp:txBody>
      <dsp:txXfrm>
        <a:off x="1377132" y="1611684"/>
        <a:ext cx="2050982" cy="870114"/>
      </dsp:txXfrm>
    </dsp:sp>
    <dsp:sp modelId="{6F3DC77B-87B9-4E71-BD7C-2A2D509B4CCC}">
      <dsp:nvSpPr>
        <dsp:cNvPr id="0" name=""/>
        <dsp:cNvSpPr/>
      </dsp:nvSpPr>
      <dsp:spPr>
        <a:xfrm>
          <a:off x="3785484" y="1611684"/>
          <a:ext cx="870114" cy="87011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8768DE-3142-4C31-81A8-9DEDA310EC39}">
      <dsp:nvSpPr>
        <dsp:cNvPr id="0" name=""/>
        <dsp:cNvSpPr/>
      </dsp:nvSpPr>
      <dsp:spPr>
        <a:xfrm>
          <a:off x="3968208" y="1794407"/>
          <a:ext cx="504666" cy="50466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F938B03-DCC2-4F5B-B2D9-1035F4E2DEF2}">
      <dsp:nvSpPr>
        <dsp:cNvPr id="0" name=""/>
        <dsp:cNvSpPr/>
      </dsp:nvSpPr>
      <dsp:spPr>
        <a:xfrm>
          <a:off x="4842051" y="1611684"/>
          <a:ext cx="2050982" cy="8701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b="1" i="0" kern="1200" baseline="0"/>
            <a:t>• System-Level Metrics</a:t>
          </a:r>
          <a:r>
            <a:rPr lang="en-US" sz="1300" b="0" i="0" kern="1200" baseline="0"/>
            <a:t> – optimize for overall task success, latency, safety, and fairness.</a:t>
          </a:r>
          <a:endParaRPr lang="en-US" sz="1300" kern="1200"/>
        </a:p>
      </dsp:txBody>
      <dsp:txXfrm>
        <a:off x="4842051" y="1611684"/>
        <a:ext cx="2050982" cy="870114"/>
      </dsp:txXfrm>
    </dsp:sp>
    <dsp:sp modelId="{7DE4EFA0-FB6D-40E5-9E22-B64784183ADD}">
      <dsp:nvSpPr>
        <dsp:cNvPr id="0" name=""/>
        <dsp:cNvSpPr/>
      </dsp:nvSpPr>
      <dsp:spPr>
        <a:xfrm>
          <a:off x="320565" y="3177689"/>
          <a:ext cx="870114" cy="87011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48B878-9289-4972-AF55-D178522ACA5D}">
      <dsp:nvSpPr>
        <dsp:cNvPr id="0" name=""/>
        <dsp:cNvSpPr/>
      </dsp:nvSpPr>
      <dsp:spPr>
        <a:xfrm>
          <a:off x="503289" y="3360413"/>
          <a:ext cx="504666" cy="50466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F49F6E7-3617-4C37-9291-94032BCB1C0C}">
      <dsp:nvSpPr>
        <dsp:cNvPr id="0" name=""/>
        <dsp:cNvSpPr/>
      </dsp:nvSpPr>
      <dsp:spPr>
        <a:xfrm>
          <a:off x="1377132" y="3177689"/>
          <a:ext cx="2050982" cy="8701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b="1" i="0" kern="1200" baseline="0"/>
            <a:t>• Conflict Resolution</a:t>
          </a:r>
          <a:r>
            <a:rPr lang="en-US" sz="1300" b="0" i="0" kern="1200" baseline="0"/>
            <a:t> – use arbitration, voting, or consensus when agents disagree.</a:t>
          </a:r>
          <a:endParaRPr lang="en-US" sz="1300" kern="1200"/>
        </a:p>
      </dsp:txBody>
      <dsp:txXfrm>
        <a:off x="1377132" y="3177689"/>
        <a:ext cx="2050982" cy="870114"/>
      </dsp:txXfrm>
    </dsp:sp>
    <dsp:sp modelId="{DEF1297D-0B3E-4259-B170-39C2BCD08047}">
      <dsp:nvSpPr>
        <dsp:cNvPr id="0" name=""/>
        <dsp:cNvSpPr/>
      </dsp:nvSpPr>
      <dsp:spPr>
        <a:xfrm>
          <a:off x="3785484" y="3177689"/>
          <a:ext cx="870114" cy="87011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DA38B9-09C5-48BF-B666-1C5F9478276A}">
      <dsp:nvSpPr>
        <dsp:cNvPr id="0" name=""/>
        <dsp:cNvSpPr/>
      </dsp:nvSpPr>
      <dsp:spPr>
        <a:xfrm>
          <a:off x="3968208" y="3360413"/>
          <a:ext cx="504666" cy="50466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D8F053F-ECBB-4DE0-95B6-7A1FB12A1BF1}">
      <dsp:nvSpPr>
        <dsp:cNvPr id="0" name=""/>
        <dsp:cNvSpPr/>
      </dsp:nvSpPr>
      <dsp:spPr>
        <a:xfrm>
          <a:off x="4842051" y="3177689"/>
          <a:ext cx="2050982" cy="8701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b="0" i="0" kern="1200" baseline="0"/>
            <a:t>These principles connect classical MAS concepts with practical </a:t>
          </a:r>
          <a:r>
            <a:rPr lang="en-US" sz="1300" b="1" i="0" kern="1200" baseline="0"/>
            <a:t>LLMOps</a:t>
          </a:r>
          <a:r>
            <a:rPr lang="en-US" sz="1300" b="0" i="0" kern="1200" baseline="0"/>
            <a:t> for agentic AI systems.</a:t>
          </a:r>
          <a:endParaRPr lang="en-US" sz="1300" kern="1200"/>
        </a:p>
      </dsp:txBody>
      <dsp:txXfrm>
        <a:off x="4842051" y="3177689"/>
        <a:ext cx="2050982" cy="87011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89257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yourself, course, and why you chose this survey paper. Mention it connects classical robotics, satellites, and modern LLM agents.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this slide, verbally draw the loop: Evaluation → Who to coordinate with → How to coordinate → back to Evaluation.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that this taxonomy is method‑agnostic: it applies to robots, cars, satellites, and LLM agents.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Relate CTDE to a training setup where a backend service sees all agent states, while deployed agents only see local observations.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Give an intuitive comparison: Slack channels between human teams vs direct point‑to‑point calls vs broadcasting in a group meeting.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Mention deadlock and livelock examples and tie them to real systems like warehouses or traffic networks.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 can show a single graphic with icons for each domain arranged around the framework loop.</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Link this to industrial systems like Amazon Robotics or smart city traffic management.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a simple diagram or gesture: show how two arms and multiple fingers must act like a small team around one object.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Mention real examples like Starlink as intuitive anchors without going into technical details.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Highlight that this is where MAS meets modern generative AI and agent frameworks the rubric cares about.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 can mention current agent frameworks (AutoGen, LangGraph, CrewAI) as places where these coordination patterns are starting to appear.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the story: from classic swarms to LLM agents, the same coordination questions keep returning.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 with credits, and remind about Medium + GitHub + video links on the final submitted version.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75570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03684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62722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38860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1570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20169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64278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2697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1518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50237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77213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407428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588851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861779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822637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28216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8" name="Straight Connector 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12/6/2025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72551815"/>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783C067-F8BF-4755-B516-8A0CD74C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66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2ED796EC-E7FF-46DB-B912-FB08BF12A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Isosceles Triangle 11">
            <a:extLst>
              <a:ext uri="{FF2B5EF4-FFF2-40B4-BE49-F238E27FC236}">
                <a16:creationId xmlns:a16="http://schemas.microsoft.com/office/drawing/2014/main" id="{549A2DAB-B431-487D-95AD-BB0FECB49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03900" y="3818467"/>
            <a:ext cx="3337719" cy="3039533"/>
          </a:xfrm>
          <a:prstGeom prst="triangle">
            <a:avLst>
              <a:gd name="adj" fmla="val 100000"/>
            </a:avLst>
          </a:prstGeom>
          <a:solidFill>
            <a:schemeClr val="accent1">
              <a:lumMod val="75000"/>
              <a:alpha val="88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23" name="Straight Connector 22">
            <a:extLst>
              <a:ext uri="{FF2B5EF4-FFF2-40B4-BE49-F238E27FC236}">
                <a16:creationId xmlns:a16="http://schemas.microsoft.com/office/drawing/2014/main" id="{C5ECDEE1-7093-418F-9CF5-24EEB115C1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00950" y="0"/>
            <a:ext cx="12954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45062AF-EB11-4651-BC4A-4DA21768D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Subtitle 2"/>
          <p:cNvSpPr>
            <a:spLocks noGrp="1"/>
          </p:cNvSpPr>
          <p:nvPr>
            <p:ph type="subTitle" idx="1"/>
          </p:nvPr>
        </p:nvSpPr>
        <p:spPr>
          <a:xfrm>
            <a:off x="1130300" y="4050833"/>
            <a:ext cx="5825202" cy="1096899"/>
          </a:xfrm>
        </p:spPr>
        <p:txBody>
          <a:bodyPr>
            <a:normAutofit/>
          </a:bodyPr>
          <a:lstStyle/>
          <a:p>
            <a:r>
              <a:rPr lang="en-US" b="1"/>
              <a:t>Prepared by:</a:t>
            </a:r>
            <a:r>
              <a:rPr lang="en-US"/>
              <a:t> Rutuja Patil</a:t>
            </a:r>
            <a:br>
              <a:rPr lang="en-US"/>
            </a:br>
            <a:r>
              <a:rPr lang="en-US" b="1"/>
              <a:t>Course:</a:t>
            </a:r>
            <a:r>
              <a:rPr lang="en-US"/>
              <a:t> CMPE 297 - Short Story Assignment</a:t>
            </a:r>
          </a:p>
        </p:txBody>
      </p:sp>
      <p:sp>
        <p:nvSpPr>
          <p:cNvPr id="2" name="Title 1"/>
          <p:cNvSpPr>
            <a:spLocks noGrp="1"/>
          </p:cNvSpPr>
          <p:nvPr>
            <p:ph type="ctrTitle"/>
          </p:nvPr>
        </p:nvSpPr>
        <p:spPr>
          <a:xfrm>
            <a:off x="1130300" y="1397000"/>
            <a:ext cx="5825202" cy="2653836"/>
          </a:xfrm>
        </p:spPr>
        <p:txBody>
          <a:bodyPr>
            <a:normAutofit/>
          </a:bodyPr>
          <a:lstStyle/>
          <a:p>
            <a:pPr>
              <a:lnSpc>
                <a:spcPct val="90000"/>
              </a:lnSpc>
            </a:pPr>
            <a:r>
              <a:rPr lang="en-US" sz="4600" b="1" dirty="0"/>
              <a:t>Multi‑Agent Coordination Across Diverse Applications</a:t>
            </a:r>
          </a:p>
        </p:txBody>
      </p:sp>
      <p:sp>
        <p:nvSpPr>
          <p:cNvPr id="25" name="Rectangle 27">
            <a:extLst>
              <a:ext uri="{FF2B5EF4-FFF2-40B4-BE49-F238E27FC236}">
                <a16:creationId xmlns:a16="http://schemas.microsoft.com/office/drawing/2014/main" id="{0819F787-32B4-46A8-BC57-C6571BCEE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19230" y="0"/>
            <a:ext cx="1324770"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B5AA8A5-25CC-4295-892F-367FCDAF2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09DD65AA-8280-4962-92F3-DF1CB53349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4303" y="-8467"/>
            <a:ext cx="3575050" cy="6866467"/>
            <a:chOff x="7425267" y="-8467"/>
            <a:chExt cx="4766733" cy="6866467"/>
          </a:xfrm>
        </p:grpSpPr>
        <p:cxnSp>
          <p:nvCxnSpPr>
            <p:cNvPr id="12" name="Straight Connector 11">
              <a:extLst>
                <a:ext uri="{FF2B5EF4-FFF2-40B4-BE49-F238E27FC236}">
                  <a16:creationId xmlns:a16="http://schemas.microsoft.com/office/drawing/2014/main" id="{88942788-FC6D-44C2-BFC1-6F064710DA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1093AC6-E5C2-4894-A520-5BE11049F27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F2EF9281-EAD8-4973-938C-52DECCD0F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F4D52681-7A79-4750-8E02-7C30DBAFE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F132E88E-8003-49D3-88BD-E18DF6965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8C986A99-157C-40D0-97AD-371B6F55E3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264123D5-6D32-4F54-BAD5-43A5BAF6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5FCA8C06-6A3E-4C39-9EF2-1179873319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3F93416A-6C44-4D77-A94A-DEBC035EA6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0F7390C6-4CEE-03EB-EDE3-70156B51FC90}"/>
              </a:ext>
            </a:extLst>
          </p:cNvPr>
          <p:cNvSpPr>
            <a:spLocks noGrp="1"/>
          </p:cNvSpPr>
          <p:nvPr>
            <p:ph type="title"/>
          </p:nvPr>
        </p:nvSpPr>
        <p:spPr>
          <a:xfrm>
            <a:off x="489360" y="1382486"/>
            <a:ext cx="2660686" cy="4093028"/>
          </a:xfrm>
        </p:spPr>
        <p:txBody>
          <a:bodyPr anchor="ctr">
            <a:normAutofit/>
          </a:bodyPr>
          <a:lstStyle/>
          <a:p>
            <a:r>
              <a:rPr lang="en-US" sz="3800">
                <a:solidFill>
                  <a:schemeClr val="accent1">
                    <a:lumMod val="75000"/>
                  </a:schemeClr>
                </a:solidFill>
              </a:rPr>
              <a:t>Why This Paper?</a:t>
            </a:r>
          </a:p>
        </p:txBody>
      </p:sp>
      <p:sp>
        <p:nvSpPr>
          <p:cNvPr id="22" name="Rectangle 21">
            <a:extLst>
              <a:ext uri="{FF2B5EF4-FFF2-40B4-BE49-F238E27FC236}">
                <a16:creationId xmlns:a16="http://schemas.microsoft.com/office/drawing/2014/main" id="{24C6BC13-FB1E-48CC-B421-3D0603972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06968" y="0"/>
            <a:ext cx="483703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85A0D23-2B65-6ECC-7B86-EC766874852F}"/>
              </a:ext>
            </a:extLst>
          </p:cNvPr>
          <p:cNvGraphicFramePr>
            <a:graphicFrameLocks noGrp="1"/>
          </p:cNvGraphicFramePr>
          <p:nvPr>
            <p:ph idx="1"/>
            <p:extLst>
              <p:ext uri="{D42A27DB-BD31-4B8C-83A1-F6EECF244321}">
                <p14:modId xmlns:p14="http://schemas.microsoft.com/office/powerpoint/2010/main" val="2385860245"/>
              </p:ext>
            </p:extLst>
          </p:nvPr>
        </p:nvGraphicFramePr>
        <p:xfrm>
          <a:off x="3639407" y="944564"/>
          <a:ext cx="5019610" cy="48231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3473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45B71F80-1F92-4074-84D9-16A062B21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B01F0E-02C6-13C8-5A53-CC2D993EF220}"/>
              </a:ext>
            </a:extLst>
          </p:cNvPr>
          <p:cNvSpPr>
            <a:spLocks noGrp="1"/>
          </p:cNvSpPr>
          <p:nvPr>
            <p:ph type="title"/>
          </p:nvPr>
        </p:nvSpPr>
        <p:spPr>
          <a:xfrm>
            <a:off x="965199" y="609600"/>
            <a:ext cx="7648121" cy="1099457"/>
          </a:xfrm>
        </p:spPr>
        <p:txBody>
          <a:bodyPr>
            <a:normAutofit/>
          </a:bodyPr>
          <a:lstStyle/>
          <a:p>
            <a:r>
              <a:rPr lang="en-US" dirty="0"/>
              <a:t>What Do We Mean by Coordination? </a:t>
            </a:r>
          </a:p>
        </p:txBody>
      </p:sp>
      <p:sp>
        <p:nvSpPr>
          <p:cNvPr id="32" name="Isosceles Triangle 31">
            <a:extLst>
              <a:ext uri="{FF2B5EF4-FFF2-40B4-BE49-F238E27FC236}">
                <a16:creationId xmlns:a16="http://schemas.microsoft.com/office/drawing/2014/main" id="{7209C9DA-6E0D-46D9-8275-C52222D8C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3EB57A4D-E0D0-46DA-B339-F24CA46FA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8" name="Rectangle 2">
            <a:extLst>
              <a:ext uri="{FF2B5EF4-FFF2-40B4-BE49-F238E27FC236}">
                <a16:creationId xmlns:a16="http://schemas.microsoft.com/office/drawing/2014/main" id="{BC9741CA-18E0-5B35-3A82-0BDED5D65B52}"/>
              </a:ext>
            </a:extLst>
          </p:cNvPr>
          <p:cNvGraphicFramePr>
            <a:graphicFrameLocks noGrp="1"/>
          </p:cNvGraphicFramePr>
          <p:nvPr>
            <p:ph idx="1"/>
            <p:extLst>
              <p:ext uri="{D42A27DB-BD31-4B8C-83A1-F6EECF244321}">
                <p14:modId xmlns:p14="http://schemas.microsoft.com/office/powerpoint/2010/main" val="2109046530"/>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27233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5B71F80-1F92-4074-84D9-16A062B21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5199" y="609600"/>
            <a:ext cx="7648121" cy="1099457"/>
          </a:xfrm>
        </p:spPr>
        <p:txBody>
          <a:bodyPr>
            <a:normAutofit/>
          </a:bodyPr>
          <a:lstStyle/>
          <a:p>
            <a:pPr>
              <a:lnSpc>
                <a:spcPct val="90000"/>
              </a:lnSpc>
            </a:pPr>
            <a:r>
              <a:rPr lang="en-US" b="1"/>
              <a:t>A Unified Framework for Coordination</a:t>
            </a:r>
          </a:p>
        </p:txBody>
      </p:sp>
      <p:sp>
        <p:nvSpPr>
          <p:cNvPr id="13" name="Isosceles Triangle 12">
            <a:extLst>
              <a:ext uri="{FF2B5EF4-FFF2-40B4-BE49-F238E27FC236}">
                <a16:creationId xmlns:a16="http://schemas.microsoft.com/office/drawing/2014/main" id="{7209C9DA-6E0D-46D9-8275-C52222D8C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3EB57A4D-E0D0-46DA-B339-F24CA46FA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7" name="Rectangle 2">
            <a:extLst>
              <a:ext uri="{FF2B5EF4-FFF2-40B4-BE49-F238E27FC236}">
                <a16:creationId xmlns:a16="http://schemas.microsoft.com/office/drawing/2014/main" id="{A91B5A67-CD1D-4517-2F32-B74EE430D2A9}"/>
              </a:ext>
            </a:extLst>
          </p:cNvPr>
          <p:cNvGraphicFramePr>
            <a:graphicFrameLocks noGrp="1"/>
          </p:cNvGraphicFramePr>
          <p:nvPr>
            <p:ph idx="1"/>
            <p:extLst>
              <p:ext uri="{D42A27DB-BD31-4B8C-83A1-F6EECF244321}">
                <p14:modId xmlns:p14="http://schemas.microsoft.com/office/powerpoint/2010/main" val="45039169"/>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5B71F80-1F92-4074-84D9-16A062B21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5199" y="609600"/>
            <a:ext cx="7648121" cy="1099457"/>
          </a:xfrm>
        </p:spPr>
        <p:txBody>
          <a:bodyPr>
            <a:normAutofit/>
          </a:bodyPr>
          <a:lstStyle/>
          <a:p>
            <a:pPr>
              <a:lnSpc>
                <a:spcPct val="90000"/>
              </a:lnSpc>
            </a:pPr>
            <a:r>
              <a:rPr lang="en-US" b="1"/>
              <a:t>General Multi‑Agent Tasks: A Taxonomy</a:t>
            </a:r>
          </a:p>
        </p:txBody>
      </p:sp>
      <p:sp>
        <p:nvSpPr>
          <p:cNvPr id="18" name="Isosceles Triangle 17">
            <a:extLst>
              <a:ext uri="{FF2B5EF4-FFF2-40B4-BE49-F238E27FC236}">
                <a16:creationId xmlns:a16="http://schemas.microsoft.com/office/drawing/2014/main" id="{7209C9DA-6E0D-46D9-8275-C52222D8C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3EB57A4D-E0D0-46DA-B339-F24CA46FA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20" name="Rectangle 2">
            <a:extLst>
              <a:ext uri="{FF2B5EF4-FFF2-40B4-BE49-F238E27FC236}">
                <a16:creationId xmlns:a16="http://schemas.microsoft.com/office/drawing/2014/main" id="{A2272725-4E35-937B-B122-C8A858395586}"/>
              </a:ext>
            </a:extLst>
          </p:cNvPr>
          <p:cNvGraphicFramePr>
            <a:graphicFrameLocks noGrp="1"/>
          </p:cNvGraphicFramePr>
          <p:nvPr>
            <p:ph idx="1"/>
            <p:extLst>
              <p:ext uri="{D42A27DB-BD31-4B8C-83A1-F6EECF244321}">
                <p14:modId xmlns:p14="http://schemas.microsoft.com/office/powerpoint/2010/main" val="3420158858"/>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8000" y="609600"/>
            <a:ext cx="6447501" cy="1320800"/>
          </a:xfrm>
        </p:spPr>
        <p:txBody>
          <a:bodyPr anchor="t">
            <a:normAutofit/>
          </a:bodyPr>
          <a:lstStyle/>
          <a:p>
            <a:r>
              <a:rPr lang="en-US" b="1" dirty="0"/>
              <a:t>Coordinated Learning: Key Approaches</a:t>
            </a:r>
          </a:p>
        </p:txBody>
      </p:sp>
      <p:pic>
        <p:nvPicPr>
          <p:cNvPr id="38" name="Graphic 37" descr="Social Network">
            <a:extLst>
              <a:ext uri="{FF2B5EF4-FFF2-40B4-BE49-F238E27FC236}">
                <a16:creationId xmlns:a16="http://schemas.microsoft.com/office/drawing/2014/main" id="{EC0A00E8-C410-3CAA-D978-45F96371368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3105" y="2159331"/>
            <a:ext cx="2186980" cy="2186980"/>
          </a:xfrm>
          <a:prstGeom prst="rect">
            <a:avLst/>
          </a:prstGeom>
        </p:spPr>
      </p:pic>
      <p:sp>
        <p:nvSpPr>
          <p:cNvPr id="5" name="Rectangle 2">
            <a:extLst>
              <a:ext uri="{FF2B5EF4-FFF2-40B4-BE49-F238E27FC236}">
                <a16:creationId xmlns:a16="http://schemas.microsoft.com/office/drawing/2014/main" id="{0078B69A-5D2A-928A-310F-E8D982A8BC8D}"/>
              </a:ext>
            </a:extLst>
          </p:cNvPr>
          <p:cNvSpPr>
            <a:spLocks noGrp="1" noChangeArrowheads="1"/>
          </p:cNvSpPr>
          <p:nvPr>
            <p:ph idx="1"/>
          </p:nvPr>
        </p:nvSpPr>
        <p:spPr bwMode="auto">
          <a:xfrm>
            <a:off x="3047370" y="2160589"/>
            <a:ext cx="3905879" cy="388077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1500" b="0" i="0" u="none" strike="noStrike" cap="none" normalizeH="0" baseline="0">
                <a:ln>
                  <a:noFill/>
                </a:ln>
                <a:effectLst/>
                <a:latin typeface="+mj-lt"/>
              </a:rPr>
              <a:t>Multi-agent RL is hard because each agent changes the environment for others (</a:t>
            </a:r>
            <a:r>
              <a:rPr kumimoji="0" lang="en-US" altLang="en-US" sz="1500" b="1" i="0" u="none" strike="noStrike" cap="none" normalizeH="0" baseline="0">
                <a:ln>
                  <a:noFill/>
                </a:ln>
                <a:effectLst/>
                <a:latin typeface="+mj-lt"/>
              </a:rPr>
              <a:t>non-stationarity</a:t>
            </a:r>
            <a:r>
              <a:rPr kumimoji="0" lang="en-US" altLang="en-US" sz="1500" b="0" i="0" u="none" strike="noStrike" cap="none" normalizeH="0" baseline="0">
                <a:ln>
                  <a:noFill/>
                </a:ln>
                <a:effectLst/>
                <a:latin typeface="+mj-lt"/>
              </a:rPr>
              <a:t>).</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1500" b="0" i="0" u="none" strike="noStrike" cap="none" normalizeH="0" baseline="0">
                <a:ln>
                  <a:noFill/>
                </a:ln>
                <a:effectLst/>
                <a:latin typeface="+mj-lt"/>
              </a:rPr>
              <a:t>Coordinated learning stabilizes training through:</a:t>
            </a:r>
          </a:p>
          <a:p>
            <a:pPr marL="0" marR="0" lvl="0" indent="0" defTabSz="914400" rtl="0" eaLnBrk="0" fontAlgn="base" latinLnBrk="0" hangingPunct="0">
              <a:lnSpc>
                <a:spcPct val="90000"/>
              </a:lnSpc>
              <a:spcBef>
                <a:spcPct val="0"/>
              </a:spcBef>
              <a:spcAft>
                <a:spcPts val="600"/>
              </a:spcAft>
              <a:buClrTx/>
              <a:buSzTx/>
              <a:buFontTx/>
              <a:buNone/>
              <a:tabLst/>
            </a:pPr>
            <a:r>
              <a:rPr kumimoji="0" lang="en-US" altLang="en-US" sz="1500" b="1" i="0" u="none" strike="noStrike" cap="none" normalizeH="0" baseline="0">
                <a:ln>
                  <a:noFill/>
                </a:ln>
                <a:effectLst/>
                <a:latin typeface="+mj-lt"/>
              </a:rPr>
              <a:t>• CTDE</a:t>
            </a:r>
            <a:r>
              <a:rPr kumimoji="0" lang="en-US" altLang="en-US" sz="1500" b="0" i="0" u="none" strike="noStrike" cap="none" normalizeH="0" baseline="0">
                <a:ln>
                  <a:noFill/>
                </a:ln>
                <a:effectLst/>
                <a:latin typeface="+mj-lt"/>
              </a:rPr>
              <a:t> – centralized critic during training, agents act independently at test time.</a:t>
            </a:r>
            <a:br>
              <a:rPr kumimoji="0" lang="en-US" altLang="en-US" sz="1500" b="0" i="0" u="none" strike="noStrike" cap="none" normalizeH="0" baseline="0">
                <a:ln>
                  <a:noFill/>
                </a:ln>
                <a:effectLst/>
                <a:latin typeface="+mj-lt"/>
              </a:rPr>
            </a:br>
            <a:r>
              <a:rPr kumimoji="0" lang="en-US" altLang="en-US" sz="1500" b="1" i="0" u="none" strike="noStrike" cap="none" normalizeH="0" baseline="0">
                <a:ln>
                  <a:noFill/>
                </a:ln>
                <a:effectLst/>
                <a:latin typeface="+mj-lt"/>
              </a:rPr>
              <a:t>• Value Decomposition</a:t>
            </a:r>
            <a:r>
              <a:rPr kumimoji="0" lang="en-US" altLang="en-US" sz="1500" b="0" i="0" u="none" strike="noStrike" cap="none" normalizeH="0" baseline="0">
                <a:ln>
                  <a:noFill/>
                </a:ln>
                <a:effectLst/>
                <a:latin typeface="+mj-lt"/>
              </a:rPr>
              <a:t> – methods like VDN/QMIX split team rewards across agents.</a:t>
            </a:r>
            <a:br>
              <a:rPr kumimoji="0" lang="en-US" altLang="en-US" sz="1500" b="0" i="0" u="none" strike="noStrike" cap="none" normalizeH="0" baseline="0">
                <a:ln>
                  <a:noFill/>
                </a:ln>
                <a:effectLst/>
                <a:latin typeface="+mj-lt"/>
              </a:rPr>
            </a:br>
            <a:r>
              <a:rPr kumimoji="0" lang="en-US" altLang="en-US" sz="1500" b="1" i="0" u="none" strike="noStrike" cap="none" normalizeH="0" baseline="0">
                <a:ln>
                  <a:noFill/>
                </a:ln>
                <a:effectLst/>
                <a:latin typeface="+mj-lt"/>
              </a:rPr>
              <a:t>• Communication-Based Methods</a:t>
            </a:r>
            <a:r>
              <a:rPr kumimoji="0" lang="en-US" altLang="en-US" sz="1500" b="0" i="0" u="none" strike="noStrike" cap="none" normalizeH="0" baseline="0">
                <a:ln>
                  <a:noFill/>
                </a:ln>
                <a:effectLst/>
                <a:latin typeface="+mj-lt"/>
              </a:rPr>
              <a:t> – MADDPG, COMA, DIAL, CommNet help agents share useful information.</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1500" b="0" i="0" u="none" strike="noStrike" cap="none" normalizeH="0" baseline="0">
                <a:ln>
                  <a:noFill/>
                </a:ln>
                <a:effectLst/>
                <a:latin typeface="+mj-lt"/>
              </a:rPr>
              <a:t>These ideas also guide </a:t>
            </a:r>
            <a:r>
              <a:rPr kumimoji="0" lang="en-US" altLang="en-US" sz="1500" b="1" i="0" u="none" strike="noStrike" cap="none" normalizeH="0" baseline="0">
                <a:ln>
                  <a:noFill/>
                </a:ln>
                <a:effectLst/>
                <a:latin typeface="+mj-lt"/>
              </a:rPr>
              <a:t>LLM multi-agent training</a:t>
            </a:r>
            <a:r>
              <a:rPr kumimoji="0" lang="en-US" altLang="en-US" sz="1500" b="0" i="0" u="none" strike="noStrike" cap="none" normalizeH="0" baseline="0">
                <a:ln>
                  <a:noFill/>
                </a:ln>
                <a:effectLst/>
                <a:latin typeface="+mj-lt"/>
              </a:rPr>
              <a:t> today.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37171" y="609600"/>
            <a:ext cx="4818330" cy="1320800"/>
          </a:xfrm>
        </p:spPr>
        <p:txBody>
          <a:bodyPr>
            <a:normAutofit/>
          </a:bodyPr>
          <a:lstStyle/>
          <a:p>
            <a:r>
              <a:rPr lang="en-US" b="1"/>
              <a:t>Communication &amp; Cooperation Patterns</a:t>
            </a:r>
          </a:p>
        </p:txBody>
      </p:sp>
      <p:pic>
        <p:nvPicPr>
          <p:cNvPr id="5" name="Picture 4" descr="A 3D pattern of ring shapes connected by lines">
            <a:extLst>
              <a:ext uri="{FF2B5EF4-FFF2-40B4-BE49-F238E27FC236}">
                <a16:creationId xmlns:a16="http://schemas.microsoft.com/office/drawing/2014/main" id="{1EE750F1-2416-553A-6396-0E724923234E}"/>
              </a:ext>
            </a:extLst>
          </p:cNvPr>
          <p:cNvPicPr>
            <a:picLocks noChangeAspect="1"/>
          </p:cNvPicPr>
          <p:nvPr/>
        </p:nvPicPr>
        <p:blipFill>
          <a:blip r:embed="rId3"/>
          <a:srcRect l="27363" r="55843" b="-1"/>
          <a:stretch>
            <a:fillRect/>
          </a:stretch>
        </p:blipFill>
        <p:spPr>
          <a:xfrm>
            <a:off x="20" y="10"/>
            <a:ext cx="2050522"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9" name="Isosceles Triangle 8">
            <a:extLst>
              <a:ext uri="{FF2B5EF4-FFF2-40B4-BE49-F238E27FC236}">
                <a16:creationId xmlns:a16="http://schemas.microsoft.com/office/drawing/2014/main" id="{ECD25CC7-FC66-488C-8D61-0FE7ECF161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357491"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2137171" y="2160589"/>
            <a:ext cx="4818330" cy="3880773"/>
          </a:xfrm>
        </p:spPr>
        <p:txBody>
          <a:bodyPr>
            <a:normAutofit/>
          </a:bodyPr>
          <a:lstStyle/>
          <a:p>
            <a:pPr>
              <a:lnSpc>
                <a:spcPct val="90000"/>
              </a:lnSpc>
            </a:pPr>
            <a:r>
              <a:rPr lang="en-US" sz="1400" dirty="0"/>
              <a:t>Effective cooperation depends on </a:t>
            </a:r>
            <a:r>
              <a:rPr lang="en-US" sz="1400" b="1" dirty="0"/>
              <a:t>how agents communicate</a:t>
            </a:r>
            <a:r>
              <a:rPr lang="en-US" sz="1400" dirty="0"/>
              <a:t>. The survey highlights three core elements:</a:t>
            </a:r>
          </a:p>
          <a:p>
            <a:pPr>
              <a:lnSpc>
                <a:spcPct val="90000"/>
              </a:lnSpc>
            </a:pPr>
            <a:r>
              <a:rPr lang="en-US" sz="1400" b="1" dirty="0"/>
              <a:t>• Communication Topology</a:t>
            </a:r>
            <a:br>
              <a:rPr lang="en-US" sz="1400" dirty="0"/>
            </a:br>
            <a:r>
              <a:rPr lang="en-US" sz="1400" dirty="0"/>
              <a:t>Defines the interaction structure — fixed neighbors, dynamic graphs, or attention-based messaging.</a:t>
            </a:r>
          </a:p>
          <a:p>
            <a:pPr>
              <a:lnSpc>
                <a:spcPct val="90000"/>
              </a:lnSpc>
            </a:pPr>
            <a:r>
              <a:rPr lang="en-US" sz="1400" b="1" dirty="0"/>
              <a:t>• Communication Timing</a:t>
            </a:r>
            <a:br>
              <a:rPr lang="en-US" sz="1400" dirty="0"/>
            </a:br>
            <a:r>
              <a:rPr lang="en-US" sz="1400" dirty="0"/>
              <a:t>Messages can be sent at fixed intervals or only when important events occur.</a:t>
            </a:r>
          </a:p>
          <a:p>
            <a:pPr>
              <a:lnSpc>
                <a:spcPct val="90000"/>
              </a:lnSpc>
            </a:pPr>
            <a:r>
              <a:rPr lang="en-US" sz="1400" b="1" dirty="0"/>
              <a:t>• Communication Content</a:t>
            </a:r>
            <a:br>
              <a:rPr lang="en-US" sz="1400" dirty="0"/>
            </a:br>
            <a:r>
              <a:rPr lang="en-US" sz="1400" dirty="0"/>
              <a:t>Agents exchange raw data, compressed features, or indirect environmental signals.</a:t>
            </a:r>
          </a:p>
          <a:p>
            <a:pPr>
              <a:lnSpc>
                <a:spcPct val="90000"/>
              </a:lnSpc>
            </a:pPr>
            <a:r>
              <a:rPr lang="en-US" sz="1400" dirty="0"/>
              <a:t>These communication patterns shape coordination in both robotic systems and LLM-driven agent teams.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8DF4D7F6-81B5-452A-9CE6-76D81F91D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00126" y="609600"/>
            <a:ext cx="6447501" cy="1320800"/>
          </a:xfrm>
        </p:spPr>
        <p:txBody>
          <a:bodyPr>
            <a:normAutofit/>
          </a:bodyPr>
          <a:lstStyle/>
          <a:p>
            <a:r>
              <a:rPr lang="en-US" b="1" dirty="0"/>
              <a:t>Resolving Conflicts and Avoiding Deadlocks</a:t>
            </a:r>
          </a:p>
        </p:txBody>
      </p:sp>
      <p:sp>
        <p:nvSpPr>
          <p:cNvPr id="27" name="Isosceles Triangle 26">
            <a:extLst>
              <a:ext uri="{FF2B5EF4-FFF2-40B4-BE49-F238E27FC236}">
                <a16:creationId xmlns:a16="http://schemas.microsoft.com/office/drawing/2014/main" id="{4600514D-20FB-4559-97DC-D1DC39E6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266F638A-E405-4AC0-B984-72E5813B0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03900" y="3818467"/>
            <a:ext cx="3337719"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31" name="Straight Connector 30">
            <a:extLst>
              <a:ext uri="{FF2B5EF4-FFF2-40B4-BE49-F238E27FC236}">
                <a16:creationId xmlns:a16="http://schemas.microsoft.com/office/drawing/2014/main" id="{7D1CBE93-B17D-4509-843C-82287C3803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00950" y="0"/>
            <a:ext cx="12954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AE6277B4-6A43-48AB-89B2-3442221619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2" name="Rectangle 2">
            <a:extLst>
              <a:ext uri="{FF2B5EF4-FFF2-40B4-BE49-F238E27FC236}">
                <a16:creationId xmlns:a16="http://schemas.microsoft.com/office/drawing/2014/main" id="{C55C8AC1-1F03-42ED-A281-B2B55F7BE201}"/>
              </a:ext>
            </a:extLst>
          </p:cNvPr>
          <p:cNvSpPr>
            <a:spLocks noGrp="1" noChangeArrowheads="1"/>
          </p:cNvSpPr>
          <p:nvPr>
            <p:ph idx="1"/>
          </p:nvPr>
        </p:nvSpPr>
        <p:spPr bwMode="auto">
          <a:xfrm>
            <a:off x="1000126" y="2160590"/>
            <a:ext cx="6353174" cy="342926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Ø"/>
              <a:tabLst/>
            </a:pPr>
            <a:r>
              <a:rPr kumimoji="0" lang="en-US" altLang="en-US" b="0" i="0" u="none" strike="noStrike" cap="none" normalizeH="0" baseline="0">
                <a:ln>
                  <a:noFill/>
                </a:ln>
                <a:effectLst/>
                <a:latin typeface="Arial" panose="020B0604020202020204" pitchFamily="34" charset="0"/>
              </a:rPr>
              <a:t>Conflicts occur when agents share space or resources (e.g., narrow corridors, intersections).</a:t>
            </a:r>
          </a:p>
          <a:p>
            <a:pPr marR="0" lvl="0" defTabSz="914400" rtl="0" eaLnBrk="0" fontAlgn="base" latinLnBrk="0" hangingPunct="0">
              <a:spcBef>
                <a:spcPct val="0"/>
              </a:spcBef>
              <a:spcAft>
                <a:spcPts val="600"/>
              </a:spcAft>
              <a:buClrTx/>
              <a:buSzTx/>
              <a:buFont typeface="Wingdings" panose="05000000000000000000" pitchFamily="2" charset="2"/>
              <a:buChar char="Ø"/>
              <a:tabLst/>
            </a:pPr>
            <a:r>
              <a:rPr kumimoji="0" lang="en-US" altLang="en-US" b="0" i="0" u="none" strike="noStrike" cap="none" normalizeH="0" baseline="0">
                <a:ln>
                  <a:noFill/>
                </a:ln>
                <a:effectLst/>
                <a:latin typeface="Arial" panose="020B0604020202020204" pitchFamily="34" charset="0"/>
              </a:rPr>
              <a:t>Three main approaches:</a:t>
            </a:r>
          </a:p>
          <a:p>
            <a:pPr marR="0" lvl="0" defTabSz="914400" rtl="0" eaLnBrk="0" fontAlgn="base" latinLnBrk="0" hangingPunct="0">
              <a:spcBef>
                <a:spcPct val="0"/>
              </a:spcBef>
              <a:spcAft>
                <a:spcPts val="600"/>
              </a:spcAft>
              <a:buClrTx/>
              <a:buSzTx/>
              <a:buFont typeface="Wingdings" panose="05000000000000000000" pitchFamily="2" charset="2"/>
              <a:buChar char="Ø"/>
              <a:tabLst/>
            </a:pPr>
            <a:r>
              <a:rPr kumimoji="0" lang="en-US" altLang="en-US" b="1" i="0" u="none" strike="noStrike" cap="none" normalizeH="0" baseline="0">
                <a:ln>
                  <a:noFill/>
                </a:ln>
                <a:effectLst/>
                <a:latin typeface="Arial" panose="020B0604020202020204" pitchFamily="34" charset="0"/>
              </a:rPr>
              <a:t>• Rule-Based:</a:t>
            </a:r>
            <a:r>
              <a:rPr kumimoji="0" lang="en-US" altLang="en-US" b="0" i="0" u="none" strike="noStrike" cap="none" normalizeH="0" baseline="0">
                <a:ln>
                  <a:noFill/>
                </a:ln>
                <a:effectLst/>
                <a:latin typeface="Arial" panose="020B0604020202020204" pitchFamily="34" charset="0"/>
              </a:rPr>
              <a:t> simple priority rules; safe but not always optimal.</a:t>
            </a:r>
            <a:br>
              <a:rPr kumimoji="0" lang="en-US" altLang="en-US" b="0" i="0" u="none" strike="noStrike" cap="none" normalizeH="0" baseline="0">
                <a:ln>
                  <a:noFill/>
                </a:ln>
                <a:effectLst/>
                <a:latin typeface="Arial" panose="020B0604020202020204" pitchFamily="34" charset="0"/>
              </a:rPr>
            </a:br>
            <a:r>
              <a:rPr kumimoji="0" lang="en-US" altLang="en-US" b="1" i="0" u="none" strike="noStrike" cap="none" normalizeH="0" baseline="0">
                <a:ln>
                  <a:noFill/>
                </a:ln>
                <a:effectLst/>
                <a:latin typeface="Arial" panose="020B0604020202020204" pitchFamily="34" charset="0"/>
              </a:rPr>
              <a:t>• Centralized (MAPF):</a:t>
            </a:r>
            <a:r>
              <a:rPr kumimoji="0" lang="en-US" altLang="en-US" b="0" i="0" u="none" strike="noStrike" cap="none" normalizeH="0" baseline="0">
                <a:ln>
                  <a:noFill/>
                </a:ln>
                <a:effectLst/>
                <a:latin typeface="Arial" panose="020B0604020202020204" pitchFamily="34" charset="0"/>
              </a:rPr>
              <a:t> planners compute coordinated, collision-free paths.</a:t>
            </a:r>
            <a:br>
              <a:rPr kumimoji="0" lang="en-US" altLang="en-US" b="0" i="0" u="none" strike="noStrike" cap="none" normalizeH="0" baseline="0">
                <a:ln>
                  <a:noFill/>
                </a:ln>
                <a:effectLst/>
                <a:latin typeface="Arial" panose="020B0604020202020204" pitchFamily="34" charset="0"/>
              </a:rPr>
            </a:br>
            <a:r>
              <a:rPr kumimoji="0" lang="en-US" altLang="en-US" b="1" i="0" u="none" strike="noStrike" cap="none" normalizeH="0" baseline="0">
                <a:ln>
                  <a:noFill/>
                </a:ln>
                <a:effectLst/>
                <a:latin typeface="Arial" panose="020B0604020202020204" pitchFamily="34" charset="0"/>
              </a:rPr>
              <a:t>• Distributed Learning:</a:t>
            </a:r>
            <a:r>
              <a:rPr kumimoji="0" lang="en-US" altLang="en-US" b="0" i="0" u="none" strike="noStrike" cap="none" normalizeH="0" baseline="0">
                <a:ln>
                  <a:noFill/>
                </a:ln>
                <a:effectLst/>
                <a:latin typeface="Arial" panose="020B0604020202020204" pitchFamily="34" charset="0"/>
              </a:rPr>
              <a:t> agents learn to avoid collisions, but safety remains challenging.</a:t>
            </a:r>
          </a:p>
          <a:p>
            <a:pPr marR="0" lvl="0" defTabSz="914400" rtl="0" eaLnBrk="0" fontAlgn="base" latinLnBrk="0" hangingPunct="0">
              <a:spcBef>
                <a:spcPct val="0"/>
              </a:spcBef>
              <a:spcAft>
                <a:spcPts val="600"/>
              </a:spcAft>
              <a:buClrTx/>
              <a:buSzTx/>
              <a:buFont typeface="Wingdings" panose="05000000000000000000" pitchFamily="2" charset="2"/>
              <a:buChar char="Ø"/>
              <a:tabLst/>
            </a:pPr>
            <a:r>
              <a:rPr kumimoji="0" lang="en-US" altLang="en-US" b="0" i="0" u="none" strike="noStrike" cap="none" normalizeH="0" baseline="0">
                <a:ln>
                  <a:noFill/>
                </a:ln>
                <a:effectLst/>
                <a:latin typeface="Arial" panose="020B0604020202020204" pitchFamily="34" charset="0"/>
              </a:rPr>
              <a:t>Core challenge: balancing </a:t>
            </a:r>
            <a:r>
              <a:rPr kumimoji="0" lang="en-US" altLang="en-US" b="1" i="0" u="none" strike="noStrike" cap="none" normalizeH="0" baseline="0">
                <a:ln>
                  <a:noFill/>
                </a:ln>
                <a:effectLst/>
                <a:latin typeface="Arial" panose="020B0604020202020204" pitchFamily="34" charset="0"/>
              </a:rPr>
              <a:t>optimality</a:t>
            </a:r>
            <a:r>
              <a:rPr kumimoji="0" lang="en-US" altLang="en-US" b="0" i="0" u="none" strike="noStrike" cap="none" normalizeH="0" baseline="0">
                <a:ln>
                  <a:noFill/>
                </a:ln>
                <a:effectLst/>
                <a:latin typeface="Arial" panose="020B0604020202020204" pitchFamily="34" charset="0"/>
              </a:rPr>
              <a:t>, </a:t>
            </a:r>
            <a:r>
              <a:rPr kumimoji="0" lang="en-US" altLang="en-US" b="1" i="0" u="none" strike="noStrike" cap="none" normalizeH="0" baseline="0">
                <a:ln>
                  <a:noFill/>
                </a:ln>
                <a:effectLst/>
                <a:latin typeface="Arial" panose="020B0604020202020204" pitchFamily="34" charset="0"/>
              </a:rPr>
              <a:t>scalability</a:t>
            </a:r>
            <a:r>
              <a:rPr kumimoji="0" lang="en-US" altLang="en-US" b="0" i="0" u="none" strike="noStrike" cap="none" normalizeH="0" baseline="0">
                <a:ln>
                  <a:noFill/>
                </a:ln>
                <a:effectLst/>
                <a:latin typeface="Arial" panose="020B0604020202020204" pitchFamily="34" charset="0"/>
              </a:rPr>
              <a:t>, and </a:t>
            </a:r>
            <a:r>
              <a:rPr kumimoji="0" lang="en-US" altLang="en-US" b="1" i="0" u="none" strike="noStrike" cap="none" normalizeH="0" baseline="0">
                <a:ln>
                  <a:noFill/>
                </a:ln>
                <a:effectLst/>
                <a:latin typeface="Arial" panose="020B0604020202020204" pitchFamily="34" charset="0"/>
              </a:rPr>
              <a:t>safety</a:t>
            </a:r>
            <a:r>
              <a:rPr kumimoji="0" lang="en-US" altLang="en-US" b="0" i="0" u="none" strike="noStrike" cap="none" normalizeH="0" baseline="0">
                <a:ln>
                  <a:noFill/>
                </a:ln>
                <a:effectLst/>
                <a:latin typeface="Arial" panose="020B0604020202020204" pitchFamily="34" charset="0"/>
              </a:rPr>
              <a:t>.</a:t>
            </a:r>
          </a:p>
        </p:txBody>
      </p:sp>
      <p:sp>
        <p:nvSpPr>
          <p:cNvPr id="35" name="Rectangle 27">
            <a:extLst>
              <a:ext uri="{FF2B5EF4-FFF2-40B4-BE49-F238E27FC236}">
                <a16:creationId xmlns:a16="http://schemas.microsoft.com/office/drawing/2014/main" id="{27B538D5-95DB-47ED-9CB4-34AE5BF78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19230" y="0"/>
            <a:ext cx="1324770"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00126" y="609600"/>
            <a:ext cx="6447501" cy="1320800"/>
          </a:xfrm>
        </p:spPr>
        <p:txBody>
          <a:bodyPr>
            <a:normAutofit/>
          </a:bodyPr>
          <a:lstStyle/>
          <a:p>
            <a:r>
              <a:rPr lang="en-US" b="1"/>
              <a:t>Applications Through a Unified Lens</a:t>
            </a:r>
          </a:p>
        </p:txBody>
      </p:sp>
      <p:sp>
        <p:nvSpPr>
          <p:cNvPr id="26" name="Isosceles Triangle 25">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5" name="Rectangle 3">
            <a:extLst>
              <a:ext uri="{FF2B5EF4-FFF2-40B4-BE49-F238E27FC236}">
                <a16:creationId xmlns:a16="http://schemas.microsoft.com/office/drawing/2014/main" id="{88845344-C002-3DC6-F8FC-18AAD8D65606}"/>
              </a:ext>
            </a:extLst>
          </p:cNvPr>
          <p:cNvSpPr>
            <a:spLocks noGrp="1" noChangeArrowheads="1"/>
          </p:cNvSpPr>
          <p:nvPr>
            <p:ph idx="1"/>
          </p:nvPr>
        </p:nvSpPr>
        <p:spPr bwMode="auto">
          <a:xfrm>
            <a:off x="1000126" y="2160589"/>
            <a:ext cx="6447501" cy="388077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Ø"/>
              <a:tabLst/>
            </a:pPr>
            <a:r>
              <a:rPr kumimoji="0" lang="en-US" altLang="en-US" b="0" i="0" u="none" strike="noStrike" cap="none" normalizeH="0" baseline="0">
                <a:ln>
                  <a:noFill/>
                </a:ln>
                <a:effectLst/>
                <a:latin typeface="+mj-lt"/>
              </a:rPr>
              <a:t>The same coordination ideas appear across many domains:</a:t>
            </a:r>
          </a:p>
          <a:p>
            <a:pPr marR="0" lvl="0" defTabSz="914400" rtl="0" eaLnBrk="0" fontAlgn="base" latinLnBrk="0" hangingPunct="0">
              <a:spcBef>
                <a:spcPct val="0"/>
              </a:spcBef>
              <a:spcAft>
                <a:spcPts val="600"/>
              </a:spcAft>
              <a:buClrTx/>
              <a:buSzTx/>
              <a:buFont typeface="Wingdings" panose="05000000000000000000" pitchFamily="2" charset="2"/>
              <a:buChar char="Ø"/>
              <a:tabLst/>
            </a:pPr>
            <a:r>
              <a:rPr kumimoji="0" lang="en-US" altLang="en-US" b="1" i="0" u="none" strike="noStrike" cap="none" normalizeH="0" baseline="0">
                <a:ln>
                  <a:noFill/>
                </a:ln>
                <a:effectLst/>
                <a:latin typeface="+mj-lt"/>
              </a:rPr>
              <a:t>• Search &amp; Rescue:</a:t>
            </a:r>
            <a:r>
              <a:rPr kumimoji="0" lang="en-US" altLang="en-US" b="0" i="0" u="none" strike="noStrike" cap="none" normalizeH="0" baseline="0">
                <a:ln>
                  <a:noFill/>
                </a:ln>
                <a:effectLst/>
                <a:latin typeface="+mj-lt"/>
              </a:rPr>
              <a:t> robot swarms</a:t>
            </a:r>
            <a:br>
              <a:rPr kumimoji="0" lang="en-US" altLang="en-US" b="0" i="0" u="none" strike="noStrike" cap="none" normalizeH="0" baseline="0">
                <a:ln>
                  <a:noFill/>
                </a:ln>
                <a:effectLst/>
                <a:latin typeface="+mj-lt"/>
              </a:rPr>
            </a:br>
            <a:r>
              <a:rPr kumimoji="0" lang="en-US" altLang="en-US" b="1" i="0" u="none" strike="noStrike" cap="none" normalizeH="0" baseline="0">
                <a:ln>
                  <a:noFill/>
                </a:ln>
                <a:effectLst/>
                <a:latin typeface="+mj-lt"/>
              </a:rPr>
              <a:t>• Warehouses:</a:t>
            </a:r>
            <a:r>
              <a:rPr kumimoji="0" lang="en-US" altLang="en-US" b="0" i="0" u="none" strike="noStrike" cap="none" normalizeH="0" baseline="0">
                <a:ln>
                  <a:noFill/>
                </a:ln>
                <a:effectLst/>
                <a:latin typeface="+mj-lt"/>
              </a:rPr>
              <a:t> fleets of mobile robots</a:t>
            </a:r>
            <a:br>
              <a:rPr kumimoji="0" lang="en-US" altLang="en-US" b="0" i="0" u="none" strike="noStrike" cap="none" normalizeH="0" baseline="0">
                <a:ln>
                  <a:noFill/>
                </a:ln>
                <a:effectLst/>
                <a:latin typeface="+mj-lt"/>
              </a:rPr>
            </a:br>
            <a:r>
              <a:rPr kumimoji="0" lang="en-US" altLang="en-US" b="1" i="0" u="none" strike="noStrike" cap="none" normalizeH="0" baseline="0">
                <a:ln>
                  <a:noFill/>
                </a:ln>
                <a:effectLst/>
                <a:latin typeface="+mj-lt"/>
              </a:rPr>
              <a:t>• Transportation:</a:t>
            </a:r>
            <a:r>
              <a:rPr kumimoji="0" lang="en-US" altLang="en-US" b="0" i="0" u="none" strike="noStrike" cap="none" normalizeH="0" baseline="0">
                <a:ln>
                  <a:noFill/>
                </a:ln>
                <a:effectLst/>
                <a:latin typeface="+mj-lt"/>
              </a:rPr>
              <a:t> traffic lights + vehicles</a:t>
            </a:r>
            <a:br>
              <a:rPr kumimoji="0" lang="en-US" altLang="en-US" b="0" i="0" u="none" strike="noStrike" cap="none" normalizeH="0" baseline="0">
                <a:ln>
                  <a:noFill/>
                </a:ln>
                <a:effectLst/>
                <a:latin typeface="+mj-lt"/>
              </a:rPr>
            </a:br>
            <a:r>
              <a:rPr kumimoji="0" lang="en-US" altLang="en-US" b="1" i="0" u="none" strike="noStrike" cap="none" normalizeH="0" baseline="0">
                <a:ln>
                  <a:noFill/>
                </a:ln>
                <a:effectLst/>
                <a:latin typeface="+mj-lt"/>
              </a:rPr>
              <a:t>• Humanoid Robots:</a:t>
            </a:r>
            <a:r>
              <a:rPr kumimoji="0" lang="en-US" altLang="en-US" b="0" i="0" u="none" strike="noStrike" cap="none" normalizeH="0" baseline="0">
                <a:ln>
                  <a:noFill/>
                </a:ln>
                <a:effectLst/>
                <a:latin typeface="+mj-lt"/>
              </a:rPr>
              <a:t> coordinated limbs/sensors</a:t>
            </a:r>
            <a:br>
              <a:rPr kumimoji="0" lang="en-US" altLang="en-US" b="0" i="0" u="none" strike="noStrike" cap="none" normalizeH="0" baseline="0">
                <a:ln>
                  <a:noFill/>
                </a:ln>
                <a:effectLst/>
                <a:latin typeface="+mj-lt"/>
              </a:rPr>
            </a:br>
            <a:r>
              <a:rPr kumimoji="0" lang="en-US" altLang="en-US" b="1" i="0" u="none" strike="noStrike" cap="none" normalizeH="0" baseline="0">
                <a:ln>
                  <a:noFill/>
                </a:ln>
                <a:effectLst/>
                <a:latin typeface="+mj-lt"/>
              </a:rPr>
              <a:t>• Satellite Systems:</a:t>
            </a:r>
            <a:r>
              <a:rPr kumimoji="0" lang="en-US" altLang="en-US" b="0" i="0" u="none" strike="noStrike" cap="none" normalizeH="0" baseline="0">
                <a:ln>
                  <a:noFill/>
                </a:ln>
                <a:effectLst/>
                <a:latin typeface="+mj-lt"/>
              </a:rPr>
              <a:t> constellations + swarms</a:t>
            </a:r>
            <a:br>
              <a:rPr kumimoji="0" lang="en-US" altLang="en-US" b="0" i="0" u="none" strike="noStrike" cap="none" normalizeH="0" baseline="0">
                <a:ln>
                  <a:noFill/>
                </a:ln>
                <a:effectLst/>
                <a:latin typeface="+mj-lt"/>
              </a:rPr>
            </a:br>
            <a:r>
              <a:rPr kumimoji="0" lang="en-US" altLang="en-US" b="1" i="0" u="none" strike="noStrike" cap="none" normalizeH="0" baseline="0">
                <a:ln>
                  <a:noFill/>
                </a:ln>
                <a:effectLst/>
                <a:latin typeface="+mj-lt"/>
              </a:rPr>
              <a:t>• LLM Multi-Agent Systems:</a:t>
            </a:r>
            <a:r>
              <a:rPr kumimoji="0" lang="en-US" altLang="en-US" b="0" i="0" u="none" strike="noStrike" cap="none" normalizeH="0" baseline="0">
                <a:ln>
                  <a:noFill/>
                </a:ln>
                <a:effectLst/>
                <a:latin typeface="+mj-lt"/>
              </a:rPr>
              <a:t> language agents collaborating</a:t>
            </a:r>
          </a:p>
          <a:p>
            <a:pPr marR="0" lvl="0" defTabSz="914400" rtl="0" eaLnBrk="0" fontAlgn="base" latinLnBrk="0" hangingPunct="0">
              <a:spcBef>
                <a:spcPct val="0"/>
              </a:spcBef>
              <a:spcAft>
                <a:spcPts val="600"/>
              </a:spcAft>
              <a:buClrTx/>
              <a:buSzTx/>
              <a:buFont typeface="Wingdings" panose="05000000000000000000" pitchFamily="2" charset="2"/>
              <a:buChar char="Ø"/>
              <a:tabLst/>
            </a:pPr>
            <a:r>
              <a:rPr kumimoji="0" lang="en-US" altLang="en-US" b="0" i="0" u="none" strike="noStrike" cap="none" normalizeH="0" baseline="0">
                <a:ln>
                  <a:noFill/>
                </a:ln>
                <a:effectLst/>
                <a:latin typeface="+mj-lt"/>
              </a:rPr>
              <a:t>All follow the same coordination loop:</a:t>
            </a:r>
            <a:br>
              <a:rPr kumimoji="0" lang="en-US" altLang="en-US" b="0" i="0" u="none" strike="noStrike" cap="none" normalizeH="0" baseline="0">
                <a:ln>
                  <a:noFill/>
                </a:ln>
                <a:effectLst/>
                <a:latin typeface="+mj-lt"/>
              </a:rPr>
            </a:br>
            <a:r>
              <a:rPr kumimoji="0" lang="en-US" altLang="en-US" b="1" i="0" u="none" strike="noStrike" cap="none" normalizeH="0" baseline="0">
                <a:ln>
                  <a:noFill/>
                </a:ln>
                <a:effectLst/>
                <a:latin typeface="+mj-lt"/>
              </a:rPr>
              <a:t>evaluate → choose partners → coordinate.</a:t>
            </a:r>
            <a:endParaRPr kumimoji="0" lang="en-US" altLang="en-US" b="0" i="0" u="none" strike="noStrike" cap="none" normalizeH="0" baseline="0">
              <a:ln>
                <a:noFill/>
              </a:ln>
              <a:effectLst/>
              <a:latin typeface="+mj-lt"/>
            </a:endParaRPr>
          </a:p>
        </p:txBody>
      </p:sp>
      <p:sp>
        <p:nvSpPr>
          <p:cNvPr id="28" name="Isosceles Triangle 27">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DF4D7F6-81B5-452A-9CE6-76D81F91D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00126" y="609600"/>
            <a:ext cx="6447501" cy="1320800"/>
          </a:xfrm>
        </p:spPr>
        <p:txBody>
          <a:bodyPr>
            <a:normAutofit/>
          </a:bodyPr>
          <a:lstStyle/>
          <a:p>
            <a:r>
              <a:rPr lang="en-US" b="1"/>
              <a:t>Physical Domains: Transport and Warehouses</a:t>
            </a:r>
          </a:p>
        </p:txBody>
      </p:sp>
      <p:sp>
        <p:nvSpPr>
          <p:cNvPr id="12" name="Isosceles Triangle 11">
            <a:extLst>
              <a:ext uri="{FF2B5EF4-FFF2-40B4-BE49-F238E27FC236}">
                <a16:creationId xmlns:a16="http://schemas.microsoft.com/office/drawing/2014/main" id="{4600514D-20FB-4559-97DC-D1DC39E6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266F638A-E405-4AC0-B984-72E5813B0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03900" y="3818467"/>
            <a:ext cx="3337719"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6" name="Straight Connector 15">
            <a:extLst>
              <a:ext uri="{FF2B5EF4-FFF2-40B4-BE49-F238E27FC236}">
                <a16:creationId xmlns:a16="http://schemas.microsoft.com/office/drawing/2014/main" id="{7D1CBE93-B17D-4509-843C-82287C3803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00950" y="0"/>
            <a:ext cx="12954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E6277B4-6A43-48AB-89B2-3442221619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5" name="Rectangle 2">
            <a:extLst>
              <a:ext uri="{FF2B5EF4-FFF2-40B4-BE49-F238E27FC236}">
                <a16:creationId xmlns:a16="http://schemas.microsoft.com/office/drawing/2014/main" id="{A30B4E7A-C14B-8A63-040C-0FC68AA51FB3}"/>
              </a:ext>
            </a:extLst>
          </p:cNvPr>
          <p:cNvSpPr>
            <a:spLocks noGrp="1" noChangeArrowheads="1"/>
          </p:cNvSpPr>
          <p:nvPr>
            <p:ph idx="1"/>
          </p:nvPr>
        </p:nvSpPr>
        <p:spPr bwMode="auto">
          <a:xfrm>
            <a:off x="1000126" y="2160590"/>
            <a:ext cx="6353174" cy="342926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b="1" i="0" u="none" strike="noStrike" cap="none" normalizeH="0" baseline="0" dirty="0">
                <a:ln>
                  <a:noFill/>
                </a:ln>
                <a:effectLst/>
                <a:latin typeface="Arial" panose="020B0604020202020204" pitchFamily="34" charset="0"/>
              </a:rPr>
              <a:t>Transportation systems:</a:t>
            </a:r>
            <a:br>
              <a:rPr kumimoji="0" lang="en-US" altLang="en-US" b="0" i="0" u="none" strike="noStrike" cap="none" normalizeH="0" baseline="0" dirty="0">
                <a:ln>
                  <a:noFill/>
                </a:ln>
                <a:effectLst/>
                <a:latin typeface="Arial" panose="020B0604020202020204" pitchFamily="34" charset="0"/>
              </a:rPr>
            </a:br>
            <a:r>
              <a:rPr kumimoji="0" lang="en-US" altLang="en-US" b="0" i="0" u="none" strike="noStrike" cap="none" normalizeH="0" baseline="0" dirty="0">
                <a:ln>
                  <a:noFill/>
                </a:ln>
                <a:effectLst/>
                <a:latin typeface="Arial" panose="020B0604020202020204" pitchFamily="34" charset="0"/>
              </a:rPr>
              <a:t>Traffic signals and vehicles coordinate tasks like signal timing, platooning, and merging to improve safety, travel time, and energy use.</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b="1" i="0" u="none" strike="noStrike" cap="none" normalizeH="0" baseline="0" dirty="0">
                <a:ln>
                  <a:noFill/>
                </a:ln>
                <a:effectLst/>
                <a:latin typeface="Arial" panose="020B0604020202020204" pitchFamily="34" charset="0"/>
              </a:rPr>
              <a:t>Warehouses:</a:t>
            </a:r>
            <a:br>
              <a:rPr kumimoji="0" lang="en-US" altLang="en-US" b="0" i="0" u="none" strike="noStrike" cap="none" normalizeH="0" baseline="0" dirty="0">
                <a:ln>
                  <a:noFill/>
                </a:ln>
                <a:effectLst/>
                <a:latin typeface="Arial" panose="020B0604020202020204" pitchFamily="34" charset="0"/>
              </a:rPr>
            </a:br>
            <a:r>
              <a:rPr kumimoji="0" lang="en-US" altLang="en-US" b="0" i="0" u="none" strike="noStrike" cap="none" normalizeH="0" baseline="0" dirty="0">
                <a:ln>
                  <a:noFill/>
                </a:ln>
                <a:effectLst/>
                <a:latin typeface="Arial" panose="020B0604020202020204" pitchFamily="34" charset="0"/>
              </a:rPr>
              <a:t>AGVs, shelves, and robotic arms coordinate task allocation, path planning, and congestion control for efficient item movement.</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b="1" i="0" u="none" strike="noStrike" cap="none" normalizeH="0" baseline="0" dirty="0">
                <a:ln>
                  <a:noFill/>
                </a:ln>
                <a:effectLst/>
                <a:latin typeface="Arial" panose="020B0604020202020204" pitchFamily="34" charset="0"/>
              </a:rPr>
              <a:t>Shared insight:</a:t>
            </a:r>
            <a:br>
              <a:rPr kumimoji="0" lang="en-US" altLang="en-US" b="0" i="0" u="none" strike="noStrike" cap="none" normalizeH="0" baseline="0" dirty="0">
                <a:ln>
                  <a:noFill/>
                </a:ln>
                <a:effectLst/>
                <a:latin typeface="Arial" panose="020B0604020202020204" pitchFamily="34" charset="0"/>
              </a:rPr>
            </a:br>
            <a:r>
              <a:rPr kumimoji="0" lang="en-US" altLang="en-US" b="0" i="0" u="none" strike="noStrike" cap="none" normalizeH="0" baseline="0" dirty="0">
                <a:ln>
                  <a:noFill/>
                </a:ln>
                <a:effectLst/>
                <a:latin typeface="Arial" panose="020B0604020202020204" pitchFamily="34" charset="0"/>
              </a:rPr>
              <a:t>Both domains rely on </a:t>
            </a:r>
            <a:r>
              <a:rPr kumimoji="0" lang="en-US" altLang="en-US" b="1" i="0" u="none" strike="noStrike" cap="none" normalizeH="0" baseline="0" dirty="0">
                <a:ln>
                  <a:noFill/>
                </a:ln>
                <a:effectLst/>
                <a:latin typeface="Arial" panose="020B0604020202020204" pitchFamily="34" charset="0"/>
              </a:rPr>
              <a:t>safety, throughput</a:t>
            </a:r>
            <a:r>
              <a:rPr kumimoji="0" lang="en-US" altLang="en-US" b="0" i="0" u="none" strike="noStrike" cap="none" normalizeH="0" baseline="0" dirty="0">
                <a:ln>
                  <a:noFill/>
                </a:ln>
                <a:effectLst/>
                <a:latin typeface="Arial" panose="020B0604020202020204" pitchFamily="34" charset="0"/>
              </a:rPr>
              <a:t>, and </a:t>
            </a:r>
            <a:r>
              <a:rPr kumimoji="0" lang="en-US" altLang="en-US" b="1" i="0" u="none" strike="noStrike" cap="none" normalizeH="0" baseline="0" dirty="0">
                <a:ln>
                  <a:noFill/>
                </a:ln>
                <a:effectLst/>
                <a:latin typeface="Arial" panose="020B0604020202020204" pitchFamily="34" charset="0"/>
              </a:rPr>
              <a:t>hierarchical control</a:t>
            </a:r>
            <a:r>
              <a:rPr lang="en-US" altLang="en-US" dirty="0">
                <a:latin typeface="Arial" panose="020B0604020202020204" pitchFamily="34" charset="0"/>
              </a:rPr>
              <a:t> </a:t>
            </a:r>
            <a:r>
              <a:rPr kumimoji="0" lang="en-US" altLang="en-US" b="0" i="0" u="none" strike="noStrike" cap="none" normalizeH="0" baseline="0" dirty="0">
                <a:ln>
                  <a:noFill/>
                </a:ln>
                <a:effectLst/>
                <a:latin typeface="Arial" panose="020B0604020202020204" pitchFamily="34" charset="0"/>
              </a:rPr>
              <a:t>fast local decisions supported by higher-level global planning.</a:t>
            </a:r>
          </a:p>
        </p:txBody>
      </p:sp>
      <p:sp>
        <p:nvSpPr>
          <p:cNvPr id="20" name="Rectangle 27">
            <a:extLst>
              <a:ext uri="{FF2B5EF4-FFF2-40B4-BE49-F238E27FC236}">
                <a16:creationId xmlns:a16="http://schemas.microsoft.com/office/drawing/2014/main" id="{27B538D5-95DB-47ED-9CB4-34AE5BF78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19230" y="0"/>
            <a:ext cx="1324770"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DF4D7F6-81B5-452A-9CE6-76D81F91D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00126" y="609600"/>
            <a:ext cx="6447501" cy="1320800"/>
          </a:xfrm>
        </p:spPr>
        <p:txBody>
          <a:bodyPr>
            <a:normAutofit/>
          </a:bodyPr>
          <a:lstStyle/>
          <a:p>
            <a:r>
              <a:rPr lang="en-US" b="1"/>
              <a:t>Humanoid and Dexterous Robots as MAS</a:t>
            </a:r>
          </a:p>
        </p:txBody>
      </p:sp>
      <p:sp>
        <p:nvSpPr>
          <p:cNvPr id="11" name="Isosceles Triangle 10">
            <a:extLst>
              <a:ext uri="{FF2B5EF4-FFF2-40B4-BE49-F238E27FC236}">
                <a16:creationId xmlns:a16="http://schemas.microsoft.com/office/drawing/2014/main" id="{4600514D-20FB-4559-97DC-D1DC39E6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266F638A-E405-4AC0-B984-72E5813B0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03900" y="3818467"/>
            <a:ext cx="3337719"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5" name="Straight Connector 14">
            <a:extLst>
              <a:ext uri="{FF2B5EF4-FFF2-40B4-BE49-F238E27FC236}">
                <a16:creationId xmlns:a16="http://schemas.microsoft.com/office/drawing/2014/main" id="{7D1CBE93-B17D-4509-843C-82287C3803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00950" y="0"/>
            <a:ext cx="12954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AE6277B4-6A43-48AB-89B2-3442221619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4" name="Rectangle 1">
            <a:extLst>
              <a:ext uri="{FF2B5EF4-FFF2-40B4-BE49-F238E27FC236}">
                <a16:creationId xmlns:a16="http://schemas.microsoft.com/office/drawing/2014/main" id="{EB9B56B3-1EA6-F102-9E86-57F59771E669}"/>
              </a:ext>
            </a:extLst>
          </p:cNvPr>
          <p:cNvSpPr>
            <a:spLocks noGrp="1" noChangeArrowheads="1"/>
          </p:cNvSpPr>
          <p:nvPr>
            <p:ph idx="1"/>
          </p:nvPr>
        </p:nvSpPr>
        <p:spPr bwMode="auto">
          <a:xfrm>
            <a:off x="1000126" y="2160590"/>
            <a:ext cx="6353174" cy="342926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Ø"/>
              <a:tabLst/>
            </a:pPr>
            <a:r>
              <a:rPr kumimoji="0" lang="en-US" altLang="en-US" b="0" i="0" u="none" strike="noStrike" cap="none" normalizeH="0" baseline="0" dirty="0">
                <a:ln>
                  <a:noFill/>
                </a:ln>
                <a:effectLst/>
                <a:latin typeface="+mj-lt"/>
              </a:rPr>
              <a:t>Humanoid robots can be viewed as </a:t>
            </a:r>
            <a:r>
              <a:rPr kumimoji="0" lang="en-US" altLang="en-US" b="1" i="0" u="none" strike="noStrike" cap="none" normalizeH="0" baseline="0" dirty="0">
                <a:ln>
                  <a:noFill/>
                </a:ln>
                <a:effectLst/>
                <a:latin typeface="+mj-lt"/>
              </a:rPr>
              <a:t>multi-agent systems</a:t>
            </a:r>
            <a:r>
              <a:rPr kumimoji="0" lang="en-US" altLang="en-US" b="0" i="0" u="none" strike="noStrike" cap="none" normalizeH="0" baseline="0" dirty="0">
                <a:ln>
                  <a:noFill/>
                </a:ln>
                <a:effectLst/>
                <a:latin typeface="+mj-lt"/>
              </a:rPr>
              <a:t>: each arm, finger, sensor, or controller acts like an individual agent with its own role.</a:t>
            </a:r>
          </a:p>
          <a:p>
            <a:pPr marR="0" lvl="0" defTabSz="914400" rtl="0" eaLnBrk="0" fontAlgn="base" latinLnBrk="0" hangingPunct="0">
              <a:spcBef>
                <a:spcPct val="0"/>
              </a:spcBef>
              <a:spcAft>
                <a:spcPts val="600"/>
              </a:spcAft>
              <a:buClrTx/>
              <a:buSzTx/>
              <a:buFont typeface="Wingdings" panose="05000000000000000000" pitchFamily="2" charset="2"/>
              <a:buChar char="Ø"/>
              <a:tabLst/>
            </a:pPr>
            <a:r>
              <a:rPr kumimoji="0" lang="en-US" altLang="en-US" b="0" i="0" u="none" strike="noStrike" cap="none" normalizeH="0" baseline="0" dirty="0">
                <a:ln>
                  <a:noFill/>
                </a:ln>
                <a:effectLst/>
                <a:latin typeface="+mj-lt"/>
              </a:rPr>
              <a:t>Tasks like dual-arm manipulation require </a:t>
            </a:r>
            <a:r>
              <a:rPr kumimoji="0" lang="en-US" altLang="en-US" b="1" i="0" u="none" strike="noStrike" cap="none" normalizeH="0" baseline="0" dirty="0">
                <a:ln>
                  <a:noFill/>
                </a:ln>
                <a:effectLst/>
                <a:latin typeface="+mj-lt"/>
              </a:rPr>
              <a:t>synchronized, collision-free coordination</a:t>
            </a:r>
            <a:r>
              <a:rPr kumimoji="0" lang="en-US" altLang="en-US" b="0" i="0" u="none" strike="noStrike" cap="none" normalizeH="0" baseline="0" dirty="0">
                <a:ln>
                  <a:noFill/>
                </a:ln>
                <a:effectLst/>
                <a:latin typeface="+mj-lt"/>
              </a:rPr>
              <a:t>. Dexterous hands must coordinate many fingers for in-hand manipulation.</a:t>
            </a:r>
          </a:p>
          <a:p>
            <a:pPr marR="0" lvl="0" defTabSz="914400" rtl="0" eaLnBrk="0" fontAlgn="base" latinLnBrk="0" hangingPunct="0">
              <a:spcBef>
                <a:spcPct val="0"/>
              </a:spcBef>
              <a:spcAft>
                <a:spcPts val="600"/>
              </a:spcAft>
              <a:buClrTx/>
              <a:buSzTx/>
              <a:buFont typeface="Wingdings" panose="05000000000000000000" pitchFamily="2" charset="2"/>
              <a:buChar char="Ø"/>
              <a:tabLst/>
            </a:pPr>
            <a:r>
              <a:rPr kumimoji="0" lang="en-US" altLang="en-US" b="0" i="0" u="none" strike="noStrike" cap="none" normalizeH="0" baseline="0" dirty="0">
                <a:ln>
                  <a:noFill/>
                </a:ln>
                <a:effectLst/>
                <a:latin typeface="+mj-lt"/>
              </a:rPr>
              <a:t>Coordination focuses on </a:t>
            </a:r>
            <a:r>
              <a:rPr kumimoji="0" lang="en-US" altLang="en-US" b="1" i="0" u="none" strike="noStrike" cap="none" normalizeH="0" baseline="0" dirty="0">
                <a:ln>
                  <a:noFill/>
                </a:ln>
                <a:effectLst/>
                <a:latin typeface="+mj-lt"/>
              </a:rPr>
              <a:t>timing, precise motion planning, and redundancy</a:t>
            </a:r>
            <a:r>
              <a:rPr kumimoji="0" lang="en-US" altLang="en-US" b="0" i="0" u="none" strike="noStrike" cap="none" normalizeH="0" baseline="0" dirty="0">
                <a:ln>
                  <a:noFill/>
                </a:ln>
                <a:effectLst/>
                <a:latin typeface="+mj-lt"/>
              </a:rPr>
              <a:t>—if one component fails, others must compensate.</a:t>
            </a:r>
          </a:p>
          <a:p>
            <a:pPr marR="0" lvl="0" defTabSz="914400" rtl="0" eaLnBrk="0" fontAlgn="base" latinLnBrk="0" hangingPunct="0">
              <a:spcBef>
                <a:spcPct val="0"/>
              </a:spcBef>
              <a:spcAft>
                <a:spcPts val="600"/>
              </a:spcAft>
              <a:buClrTx/>
              <a:buSzTx/>
              <a:buFont typeface="Wingdings" panose="05000000000000000000" pitchFamily="2" charset="2"/>
              <a:buChar char="Ø"/>
              <a:tabLst/>
            </a:pPr>
            <a:r>
              <a:rPr kumimoji="0" lang="en-US" altLang="en-US" b="0" i="0" u="none" strike="noStrike" cap="none" normalizeH="0" baseline="0" dirty="0">
                <a:ln>
                  <a:noFill/>
                </a:ln>
                <a:effectLst/>
                <a:latin typeface="+mj-lt"/>
              </a:rPr>
              <a:t>Both </a:t>
            </a:r>
            <a:r>
              <a:rPr kumimoji="0" lang="en-US" altLang="en-US" b="1" i="0" u="none" strike="noStrike" cap="none" normalizeH="0" baseline="0" dirty="0">
                <a:ln>
                  <a:noFill/>
                </a:ln>
                <a:effectLst/>
                <a:latin typeface="+mj-lt"/>
              </a:rPr>
              <a:t>centralized planners</a:t>
            </a:r>
            <a:r>
              <a:rPr kumimoji="0" lang="en-US" altLang="en-US" b="0" i="0" u="none" strike="noStrike" cap="none" normalizeH="0" baseline="0" dirty="0">
                <a:ln>
                  <a:noFill/>
                </a:ln>
                <a:effectLst/>
                <a:latin typeface="+mj-lt"/>
              </a:rPr>
              <a:t> and </a:t>
            </a:r>
            <a:r>
              <a:rPr kumimoji="0" lang="en-US" altLang="en-US" b="1" i="0" u="none" strike="noStrike" cap="none" normalizeH="0" baseline="0" dirty="0">
                <a:ln>
                  <a:noFill/>
                </a:ln>
                <a:effectLst/>
                <a:latin typeface="+mj-lt"/>
              </a:rPr>
              <a:t>decentralized, learning-based methods</a:t>
            </a:r>
            <a:r>
              <a:rPr kumimoji="0" lang="en-US" altLang="en-US" b="0" i="0" u="none" strike="noStrike" cap="none" normalizeH="0" baseline="0" dirty="0">
                <a:ln>
                  <a:noFill/>
                </a:ln>
                <a:effectLst/>
                <a:latin typeface="+mj-lt"/>
              </a:rPr>
              <a:t> are used for scalable manipulation.</a:t>
            </a:r>
          </a:p>
        </p:txBody>
      </p:sp>
      <p:sp>
        <p:nvSpPr>
          <p:cNvPr id="19" name="Rectangle 27">
            <a:extLst>
              <a:ext uri="{FF2B5EF4-FFF2-40B4-BE49-F238E27FC236}">
                <a16:creationId xmlns:a16="http://schemas.microsoft.com/office/drawing/2014/main" id="{27B538D5-95DB-47ED-9CB4-34AE5BF78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19230" y="0"/>
            <a:ext cx="1324770"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5B71F80-1F92-4074-84D9-16A062B21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5199" y="609600"/>
            <a:ext cx="7648121" cy="1099457"/>
          </a:xfrm>
        </p:spPr>
        <p:txBody>
          <a:bodyPr>
            <a:normAutofit/>
          </a:bodyPr>
          <a:lstStyle/>
          <a:p>
            <a:pPr>
              <a:lnSpc>
                <a:spcPct val="90000"/>
              </a:lnSpc>
            </a:pPr>
            <a:r>
              <a:rPr lang="en-US" b="1"/>
              <a:t>Satellite Constellations and Swarms</a:t>
            </a:r>
          </a:p>
        </p:txBody>
      </p:sp>
      <p:sp>
        <p:nvSpPr>
          <p:cNvPr id="18" name="Isosceles Triangle 17">
            <a:extLst>
              <a:ext uri="{FF2B5EF4-FFF2-40B4-BE49-F238E27FC236}">
                <a16:creationId xmlns:a16="http://schemas.microsoft.com/office/drawing/2014/main" id="{7209C9DA-6E0D-46D9-8275-C52222D8C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3EB57A4D-E0D0-46DA-B339-F24CA46FA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20" name="Rectangle 2">
            <a:extLst>
              <a:ext uri="{FF2B5EF4-FFF2-40B4-BE49-F238E27FC236}">
                <a16:creationId xmlns:a16="http://schemas.microsoft.com/office/drawing/2014/main" id="{E6155F7F-0BC8-7C5D-6697-DA86BE7D26B2}"/>
              </a:ext>
            </a:extLst>
          </p:cNvPr>
          <p:cNvGraphicFramePr>
            <a:graphicFrameLocks noGrp="1"/>
          </p:cNvGraphicFramePr>
          <p:nvPr>
            <p:ph idx="1"/>
            <p:extLst>
              <p:ext uri="{D42A27DB-BD31-4B8C-83A1-F6EECF244321}">
                <p14:modId xmlns:p14="http://schemas.microsoft.com/office/powerpoint/2010/main" val="2623438611"/>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B5AA8A5-25CC-4295-892F-367FCDAF2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09DD65AA-8280-4962-92F3-DF1CB53349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4303" y="-8467"/>
            <a:ext cx="3575050" cy="6866467"/>
            <a:chOff x="7425267" y="-8467"/>
            <a:chExt cx="4766733" cy="6866467"/>
          </a:xfrm>
        </p:grpSpPr>
        <p:cxnSp>
          <p:nvCxnSpPr>
            <p:cNvPr id="12" name="Straight Connector 11">
              <a:extLst>
                <a:ext uri="{FF2B5EF4-FFF2-40B4-BE49-F238E27FC236}">
                  <a16:creationId xmlns:a16="http://schemas.microsoft.com/office/drawing/2014/main" id="{88942788-FC6D-44C2-BFC1-6F064710DA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1093AC6-E5C2-4894-A520-5BE11049F27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F2EF9281-EAD8-4973-938C-52DECCD0F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F4D52681-7A79-4750-8E02-7C30DBAFE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F132E88E-8003-49D3-88BD-E18DF6965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8C986A99-157C-40D0-97AD-371B6F55E3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264123D5-6D32-4F54-BAD5-43A5BAF6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5FCA8C06-6A3E-4C39-9EF2-1179873319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3F93416A-6C44-4D77-A94A-DEBC035EA6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title"/>
          </p:nvPr>
        </p:nvSpPr>
        <p:spPr>
          <a:xfrm>
            <a:off x="489360" y="1382486"/>
            <a:ext cx="2660686" cy="4093028"/>
          </a:xfrm>
        </p:spPr>
        <p:txBody>
          <a:bodyPr anchor="ctr">
            <a:normAutofit/>
          </a:bodyPr>
          <a:lstStyle/>
          <a:p>
            <a:r>
              <a:rPr lang="en-US" sz="3500" b="1">
                <a:solidFill>
                  <a:schemeClr val="accent1">
                    <a:lumMod val="75000"/>
                  </a:schemeClr>
                </a:solidFill>
              </a:rPr>
              <a:t>LLM‑Based Multi‑Agent Systems</a:t>
            </a:r>
          </a:p>
        </p:txBody>
      </p:sp>
      <p:sp>
        <p:nvSpPr>
          <p:cNvPr id="22" name="Rectangle 21">
            <a:extLst>
              <a:ext uri="{FF2B5EF4-FFF2-40B4-BE49-F238E27FC236}">
                <a16:creationId xmlns:a16="http://schemas.microsoft.com/office/drawing/2014/main" id="{24C6BC13-FB1E-48CC-B421-3D0603972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06968" y="0"/>
            <a:ext cx="483703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18D2447-082C-A386-9F33-3B3EC773CA03}"/>
              </a:ext>
            </a:extLst>
          </p:cNvPr>
          <p:cNvGraphicFramePr>
            <a:graphicFrameLocks noGrp="1"/>
          </p:cNvGraphicFramePr>
          <p:nvPr>
            <p:ph idx="1"/>
            <p:extLst>
              <p:ext uri="{D42A27DB-BD31-4B8C-83A1-F6EECF244321}">
                <p14:modId xmlns:p14="http://schemas.microsoft.com/office/powerpoint/2010/main" val="2488634061"/>
              </p:ext>
            </p:extLst>
          </p:nvPr>
        </p:nvGraphicFramePr>
        <p:xfrm>
          <a:off x="3639407" y="944564"/>
          <a:ext cx="5019610" cy="4823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45B71F80-1F92-4074-84D9-16A062B21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5199" y="609600"/>
            <a:ext cx="7648121" cy="1099457"/>
          </a:xfrm>
        </p:spPr>
        <p:txBody>
          <a:bodyPr>
            <a:normAutofit/>
          </a:bodyPr>
          <a:lstStyle/>
          <a:p>
            <a:r>
              <a:rPr lang="en-US" b="1" dirty="0"/>
              <a:t>Lessons for LLM Agent Engineering</a:t>
            </a:r>
          </a:p>
        </p:txBody>
      </p:sp>
      <p:sp>
        <p:nvSpPr>
          <p:cNvPr id="28" name="Isosceles Triangle 27">
            <a:extLst>
              <a:ext uri="{FF2B5EF4-FFF2-40B4-BE49-F238E27FC236}">
                <a16:creationId xmlns:a16="http://schemas.microsoft.com/office/drawing/2014/main" id="{7209C9DA-6E0D-46D9-8275-C52222D8C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3EB57A4D-E0D0-46DA-B339-F24CA46FA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16" name="Rectangle 1">
            <a:extLst>
              <a:ext uri="{FF2B5EF4-FFF2-40B4-BE49-F238E27FC236}">
                <a16:creationId xmlns:a16="http://schemas.microsoft.com/office/drawing/2014/main" id="{E9D48C75-EC2D-CC2B-2A36-4EFC80A15755}"/>
              </a:ext>
            </a:extLst>
          </p:cNvPr>
          <p:cNvGraphicFramePr>
            <a:graphicFrameLocks noGrp="1"/>
          </p:cNvGraphicFramePr>
          <p:nvPr>
            <p:ph idx="1"/>
            <p:extLst>
              <p:ext uri="{D42A27DB-BD31-4B8C-83A1-F6EECF244321}">
                <p14:modId xmlns:p14="http://schemas.microsoft.com/office/powerpoint/2010/main" val="610966138"/>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8DF4D7F6-81B5-452A-9CE6-76D81F91D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00126" y="609600"/>
            <a:ext cx="6447501" cy="1320800"/>
          </a:xfrm>
        </p:spPr>
        <p:txBody>
          <a:bodyPr>
            <a:normAutofit/>
          </a:bodyPr>
          <a:lstStyle/>
          <a:p>
            <a:r>
              <a:rPr lang="en-US" b="1"/>
              <a:t>Future Directions and My Takeaways</a:t>
            </a:r>
          </a:p>
        </p:txBody>
      </p:sp>
      <p:sp>
        <p:nvSpPr>
          <p:cNvPr id="50" name="Isosceles Triangle 49">
            <a:extLst>
              <a:ext uri="{FF2B5EF4-FFF2-40B4-BE49-F238E27FC236}">
                <a16:creationId xmlns:a16="http://schemas.microsoft.com/office/drawing/2014/main" id="{4600514D-20FB-4559-97DC-D1DC39E6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2" name="Isosceles Triangle 51">
            <a:extLst>
              <a:ext uri="{FF2B5EF4-FFF2-40B4-BE49-F238E27FC236}">
                <a16:creationId xmlns:a16="http://schemas.microsoft.com/office/drawing/2014/main" id="{266F638A-E405-4AC0-B984-72E5813B0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03900" y="3818467"/>
            <a:ext cx="3337719"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47" name="Straight Connector 46">
            <a:extLst>
              <a:ext uri="{FF2B5EF4-FFF2-40B4-BE49-F238E27FC236}">
                <a16:creationId xmlns:a16="http://schemas.microsoft.com/office/drawing/2014/main" id="{7D1CBE93-B17D-4509-843C-82287C3803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00950" y="0"/>
            <a:ext cx="12954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AE6277B4-6A43-48AB-89B2-3442221619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53" name="Rectangle 2">
            <a:extLst>
              <a:ext uri="{FF2B5EF4-FFF2-40B4-BE49-F238E27FC236}">
                <a16:creationId xmlns:a16="http://schemas.microsoft.com/office/drawing/2014/main" id="{A27F56C5-3AA4-93E1-5DE8-0B46F2F1CC6D}"/>
              </a:ext>
            </a:extLst>
          </p:cNvPr>
          <p:cNvSpPr>
            <a:spLocks noGrp="1" noChangeArrowheads="1"/>
          </p:cNvSpPr>
          <p:nvPr>
            <p:ph idx="1"/>
          </p:nvPr>
        </p:nvSpPr>
        <p:spPr bwMode="auto">
          <a:xfrm>
            <a:off x="1000126" y="2160590"/>
            <a:ext cx="6353174" cy="342926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Ø"/>
              <a:tabLst/>
            </a:pPr>
            <a:r>
              <a:rPr kumimoji="0" lang="en-US" altLang="en-US" b="0" i="0" u="none" strike="noStrike" cap="none" normalizeH="0" baseline="0">
                <a:ln>
                  <a:noFill/>
                </a:ln>
                <a:effectLst/>
                <a:latin typeface="+mj-lt"/>
              </a:rPr>
              <a:t>Three key future directions:</a:t>
            </a:r>
          </a:p>
          <a:p>
            <a:pPr marL="685800" lvl="1" defTabSz="914400" eaLnBrk="0" fontAlgn="base" hangingPunct="0">
              <a:spcBef>
                <a:spcPct val="0"/>
              </a:spcBef>
              <a:spcAft>
                <a:spcPts val="600"/>
              </a:spcAft>
              <a:buClrTx/>
              <a:buSzTx/>
              <a:buFont typeface="Wingdings" panose="05000000000000000000" pitchFamily="2" charset="2"/>
              <a:buChar char="§"/>
            </a:pPr>
            <a:r>
              <a:rPr kumimoji="0" lang="en-US" altLang="en-US" b="1" i="0" u="none" strike="noStrike" cap="none" normalizeH="0" baseline="0">
                <a:ln>
                  <a:noFill/>
                </a:ln>
                <a:effectLst/>
                <a:latin typeface="+mj-lt"/>
              </a:rPr>
              <a:t> Scalability &amp; Hybrid Control</a:t>
            </a:r>
            <a:r>
              <a:rPr kumimoji="0" lang="en-US" altLang="en-US" b="0" i="0" u="none" strike="noStrike" cap="none" normalizeH="0" baseline="0">
                <a:ln>
                  <a:noFill/>
                </a:ln>
                <a:effectLst/>
                <a:latin typeface="+mj-lt"/>
              </a:rPr>
              <a:t> – combining hierarchical + decentralized coordination.</a:t>
            </a:r>
            <a:endParaRPr lang="en-US" altLang="en-US">
              <a:latin typeface="+mj-lt"/>
            </a:endParaRPr>
          </a:p>
          <a:p>
            <a:pPr marL="685800" lvl="1" defTabSz="914400" eaLnBrk="0" fontAlgn="base" hangingPunct="0">
              <a:spcBef>
                <a:spcPct val="0"/>
              </a:spcBef>
              <a:spcAft>
                <a:spcPts val="600"/>
              </a:spcAft>
              <a:buClrTx/>
              <a:buSzTx/>
              <a:buFont typeface="Wingdings" panose="05000000000000000000" pitchFamily="2" charset="2"/>
              <a:buChar char="§"/>
            </a:pPr>
            <a:r>
              <a:rPr kumimoji="0" lang="en-US" altLang="en-US" b="1" i="0" u="none" strike="noStrike" cap="none" normalizeH="0" baseline="0">
                <a:ln>
                  <a:noFill/>
                </a:ln>
                <a:effectLst/>
                <a:latin typeface="+mj-lt"/>
              </a:rPr>
              <a:t>Human–AI Teaming</a:t>
            </a:r>
            <a:r>
              <a:rPr kumimoji="0" lang="en-US" altLang="en-US" b="0" i="0" u="none" strike="noStrike" cap="none" normalizeH="0" baseline="0">
                <a:ln>
                  <a:noFill/>
                </a:ln>
                <a:effectLst/>
                <a:latin typeface="+mj-lt"/>
              </a:rPr>
              <a:t> – humans and AI agents co-working with trust and safety.</a:t>
            </a:r>
            <a:endParaRPr lang="en-US" altLang="en-US">
              <a:latin typeface="+mj-lt"/>
            </a:endParaRPr>
          </a:p>
          <a:p>
            <a:pPr marL="685800" lvl="1" defTabSz="914400" eaLnBrk="0" fontAlgn="base" hangingPunct="0">
              <a:spcBef>
                <a:spcPct val="0"/>
              </a:spcBef>
              <a:spcAft>
                <a:spcPts val="600"/>
              </a:spcAft>
              <a:buClrTx/>
              <a:buSzTx/>
              <a:buFont typeface="Wingdings" panose="05000000000000000000" pitchFamily="2" charset="2"/>
              <a:buChar char="§"/>
            </a:pPr>
            <a:r>
              <a:rPr kumimoji="0" lang="en-US" altLang="en-US" b="1" i="0" u="none" strike="noStrike" cap="none" normalizeH="0" baseline="0">
                <a:ln>
                  <a:noFill/>
                </a:ln>
                <a:effectLst/>
                <a:latin typeface="+mj-lt"/>
              </a:rPr>
              <a:t>LLM-Based MAS</a:t>
            </a:r>
            <a:r>
              <a:rPr kumimoji="0" lang="en-US" altLang="en-US" b="0" i="0" u="none" strike="noStrike" cap="none" normalizeH="0" baseline="0">
                <a:ln>
                  <a:noFill/>
                </a:ln>
                <a:effectLst/>
                <a:latin typeface="+mj-lt"/>
              </a:rPr>
              <a:t> – using LLMs as components in large coordinated systems.</a:t>
            </a:r>
          </a:p>
          <a:p>
            <a:pPr marR="0" lvl="0" defTabSz="914400" rtl="0" eaLnBrk="0" fontAlgn="base" latinLnBrk="0" hangingPunct="0">
              <a:spcBef>
                <a:spcPct val="0"/>
              </a:spcBef>
              <a:spcAft>
                <a:spcPts val="600"/>
              </a:spcAft>
              <a:buClrTx/>
              <a:buSzTx/>
              <a:buFont typeface="Wingdings" panose="05000000000000000000" pitchFamily="2" charset="2"/>
              <a:buChar char="Ø"/>
              <a:tabLst/>
            </a:pPr>
            <a:r>
              <a:rPr kumimoji="0" lang="en-US" altLang="en-US" b="1" i="0" u="none" strike="noStrike" cap="none" normalizeH="0" baseline="0">
                <a:ln>
                  <a:noFill/>
                </a:ln>
                <a:effectLst/>
                <a:latin typeface="+mj-lt"/>
              </a:rPr>
              <a:t>My takeaway:</a:t>
            </a:r>
            <a:br>
              <a:rPr kumimoji="0" lang="en-US" altLang="en-US" b="0" i="0" u="none" strike="noStrike" cap="none" normalizeH="0" baseline="0">
                <a:ln>
                  <a:noFill/>
                </a:ln>
                <a:effectLst/>
                <a:latin typeface="+mj-lt"/>
              </a:rPr>
            </a:br>
            <a:r>
              <a:rPr kumimoji="0" lang="en-US" altLang="en-US" b="0" i="0" u="none" strike="noStrike" cap="none" normalizeH="0" baseline="0">
                <a:ln>
                  <a:noFill/>
                </a:ln>
                <a:effectLst/>
                <a:latin typeface="+mj-lt"/>
              </a:rPr>
              <a:t>Coordination is a unifying idea across robotics, satellites, and LLM agents enabling more robust and scalable AI systems.</a:t>
            </a:r>
          </a:p>
        </p:txBody>
      </p:sp>
      <p:sp>
        <p:nvSpPr>
          <p:cNvPr id="51" name="Rectangle 27">
            <a:extLst>
              <a:ext uri="{FF2B5EF4-FFF2-40B4-BE49-F238E27FC236}">
                <a16:creationId xmlns:a16="http://schemas.microsoft.com/office/drawing/2014/main" id="{27B538D5-95DB-47ED-9CB4-34AE5BF78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19230" y="0"/>
            <a:ext cx="1324770"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8DF4D7F6-81B5-452A-9CE6-76D81F91D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00126" y="609600"/>
            <a:ext cx="6447501" cy="1320800"/>
          </a:xfrm>
        </p:spPr>
        <p:txBody>
          <a:bodyPr>
            <a:normAutofit/>
          </a:bodyPr>
          <a:lstStyle/>
          <a:p>
            <a:r>
              <a:rPr lang="en-US" b="1"/>
              <a:t>Conclusion</a:t>
            </a:r>
          </a:p>
        </p:txBody>
      </p:sp>
      <p:sp>
        <p:nvSpPr>
          <p:cNvPr id="29" name="Isosceles Triangle 28">
            <a:extLst>
              <a:ext uri="{FF2B5EF4-FFF2-40B4-BE49-F238E27FC236}">
                <a16:creationId xmlns:a16="http://schemas.microsoft.com/office/drawing/2014/main" id="{4600514D-20FB-4559-97DC-D1DC39E6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a:extLst>
              <a:ext uri="{FF2B5EF4-FFF2-40B4-BE49-F238E27FC236}">
                <a16:creationId xmlns:a16="http://schemas.microsoft.com/office/drawing/2014/main" id="{266F638A-E405-4AC0-B984-72E5813B0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03900" y="3818467"/>
            <a:ext cx="3337719"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33" name="Straight Connector 32">
            <a:extLst>
              <a:ext uri="{FF2B5EF4-FFF2-40B4-BE49-F238E27FC236}">
                <a16:creationId xmlns:a16="http://schemas.microsoft.com/office/drawing/2014/main" id="{7D1CBE93-B17D-4509-843C-82287C3803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00950" y="0"/>
            <a:ext cx="12954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E6277B4-6A43-48AB-89B2-3442221619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Content Placeholder 2"/>
          <p:cNvSpPr>
            <a:spLocks noGrp="1"/>
          </p:cNvSpPr>
          <p:nvPr>
            <p:ph idx="1"/>
          </p:nvPr>
        </p:nvSpPr>
        <p:spPr>
          <a:xfrm>
            <a:off x="1000126" y="2160590"/>
            <a:ext cx="6353174" cy="3429260"/>
          </a:xfrm>
        </p:spPr>
        <p:txBody>
          <a:bodyPr>
            <a:normAutofit/>
          </a:bodyPr>
          <a:lstStyle/>
          <a:p>
            <a:pPr marL="0" indent="0">
              <a:buNone/>
            </a:pPr>
            <a:r>
              <a:rPr lang="en-US" dirty="0"/>
              <a:t>Multi-agent coordination provides a unified way to understand how robots, vehicles, satellites, and even LLM agents work together. Although these systems operate in very different environments, they share the same core principles: evaluating the situation, identifying which agents need to coordinate, and choosing how to act collectively. By applying this framework, we can design AI systems that are more robust, scalable, and explainable, especially as LLM-based agents become more capable and widely used.</a:t>
            </a:r>
            <a:endParaRPr lang="en-US" b="0" dirty="0"/>
          </a:p>
        </p:txBody>
      </p:sp>
      <p:sp>
        <p:nvSpPr>
          <p:cNvPr id="37" name="Rectangle 27">
            <a:extLst>
              <a:ext uri="{FF2B5EF4-FFF2-40B4-BE49-F238E27FC236}">
                <a16:creationId xmlns:a16="http://schemas.microsoft.com/office/drawing/2014/main" id="{27B538D5-95DB-47ED-9CB4-34AE5BF78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19230" y="0"/>
            <a:ext cx="1324770"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4815A7B4-532E-48C9-AC24-D78ACF3339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0" cy="6866467"/>
            <a:chOff x="0" y="-8467"/>
            <a:chExt cx="12192000" cy="6866467"/>
          </a:xfrm>
        </p:grpSpPr>
        <p:sp>
          <p:nvSpPr>
            <p:cNvPr id="10" name="Freeform 14">
              <a:extLst>
                <a:ext uri="{FF2B5EF4-FFF2-40B4-BE49-F238E27FC236}">
                  <a16:creationId xmlns:a16="http://schemas.microsoft.com/office/drawing/2014/main" id="{D40109F4-CE5C-45F4-856E-F3F69C9FD4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1" name="Straight Connector 10">
              <a:extLst>
                <a:ext uri="{FF2B5EF4-FFF2-40B4-BE49-F238E27FC236}">
                  <a16:creationId xmlns:a16="http://schemas.microsoft.com/office/drawing/2014/main" id="{3CBAA4DE-3D7B-460B-AE98-D9F9990C0B6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BF1ED3E-4F80-4AF6-A41B-44F53DDE610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3" name="Rectangle 23">
              <a:extLst>
                <a:ext uri="{FF2B5EF4-FFF2-40B4-BE49-F238E27FC236}">
                  <a16:creationId xmlns:a16="http://schemas.microsoft.com/office/drawing/2014/main" id="{C0B2D747-3E31-45C5-9A98-A9710A585F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5">
              <a:extLst>
                <a:ext uri="{FF2B5EF4-FFF2-40B4-BE49-F238E27FC236}">
                  <a16:creationId xmlns:a16="http://schemas.microsoft.com/office/drawing/2014/main" id="{A15FD4BA-3020-462D-8BE8-B3A65B8E49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Isosceles Triangle 24">
              <a:extLst>
                <a:ext uri="{FF2B5EF4-FFF2-40B4-BE49-F238E27FC236}">
                  <a16:creationId xmlns:a16="http://schemas.microsoft.com/office/drawing/2014/main" id="{A304284A-7318-4DD5-898C-2F6B23C778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7">
              <a:extLst>
                <a:ext uri="{FF2B5EF4-FFF2-40B4-BE49-F238E27FC236}">
                  <a16:creationId xmlns:a16="http://schemas.microsoft.com/office/drawing/2014/main" id="{9DF48E66-B635-4509-B115-E0987C014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8">
              <a:extLst>
                <a:ext uri="{FF2B5EF4-FFF2-40B4-BE49-F238E27FC236}">
                  <a16:creationId xmlns:a16="http://schemas.microsoft.com/office/drawing/2014/main" id="{E3B96D94-5F5A-4F4C-810C-917BF4D26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9">
              <a:extLst>
                <a:ext uri="{FF2B5EF4-FFF2-40B4-BE49-F238E27FC236}">
                  <a16:creationId xmlns:a16="http://schemas.microsoft.com/office/drawing/2014/main" id="{7F3782D6-BFF8-4389-9D39-A023ADAA92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ECE162D4-FCAE-441B-B5E9-C91DE62124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BFD4BF80-6A2C-0934-05C8-28A09557B5C6}"/>
              </a:ext>
            </a:extLst>
          </p:cNvPr>
          <p:cNvSpPr>
            <a:spLocks noGrp="1"/>
          </p:cNvSpPr>
          <p:nvPr>
            <p:ph type="title"/>
          </p:nvPr>
        </p:nvSpPr>
        <p:spPr>
          <a:xfrm>
            <a:off x="3730752" y="1265314"/>
            <a:ext cx="3224750" cy="3249131"/>
          </a:xfrm>
        </p:spPr>
        <p:txBody>
          <a:bodyPr vert="horz" lIns="91440" tIns="45720" rIns="91440" bIns="45720" rtlCol="0" anchor="b">
            <a:normAutofit/>
          </a:bodyPr>
          <a:lstStyle/>
          <a:p>
            <a:r>
              <a:rPr lang="en-US" sz="5400"/>
              <a:t>Thank You</a:t>
            </a:r>
          </a:p>
        </p:txBody>
      </p:sp>
      <p:sp>
        <p:nvSpPr>
          <p:cNvPr id="21" name="Isosceles Triangle 20">
            <a:extLst>
              <a:ext uri="{FF2B5EF4-FFF2-40B4-BE49-F238E27FC236}">
                <a16:creationId xmlns:a16="http://schemas.microsoft.com/office/drawing/2014/main" id="{DC99427B-A97E-40A3-B1FD-4557346C6A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80" y="1270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 name="Graphic 5" descr="Smiling Face with No Fill">
            <a:extLst>
              <a:ext uri="{FF2B5EF4-FFF2-40B4-BE49-F238E27FC236}">
                <a16:creationId xmlns:a16="http://schemas.microsoft.com/office/drawing/2014/main" id="{09EC0EFA-EDB1-7372-2EF7-132D0A850D0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6453" y="2020850"/>
            <a:ext cx="2824269" cy="2824269"/>
          </a:xfrm>
          <a:prstGeom prst="rect">
            <a:avLst/>
          </a:prstGeom>
        </p:spPr>
      </p:pic>
    </p:spTree>
    <p:extLst>
      <p:ext uri="{BB962C8B-B14F-4D97-AF65-F5344CB8AC3E}">
        <p14:creationId xmlns:p14="http://schemas.microsoft.com/office/powerpoint/2010/main" val="197634793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119</TotalTime>
  <Words>1600</Words>
  <Application>Microsoft Office PowerPoint</Application>
  <PresentationFormat>On-screen Show (4:3)</PresentationFormat>
  <Paragraphs>92</Paragraphs>
  <Slides>17</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Trebuchet MS</vt:lpstr>
      <vt:lpstr>Wingdings</vt:lpstr>
      <vt:lpstr>Wingdings 3</vt:lpstr>
      <vt:lpstr>Facet</vt:lpstr>
      <vt:lpstr>Multi‑Agent Coordination Across Diverse Applications</vt:lpstr>
      <vt:lpstr>Why This Paper?</vt:lpstr>
      <vt:lpstr>What Do We Mean by Coordination? </vt:lpstr>
      <vt:lpstr>A Unified Framework for Coordination</vt:lpstr>
      <vt:lpstr>General Multi‑Agent Tasks: A Taxonomy</vt:lpstr>
      <vt:lpstr>Coordinated Learning: Key Approaches</vt:lpstr>
      <vt:lpstr>Communication &amp; Cooperation Patterns</vt:lpstr>
      <vt:lpstr>Resolving Conflicts and Avoiding Deadlocks</vt:lpstr>
      <vt:lpstr>Applications Through a Unified Lens</vt:lpstr>
      <vt:lpstr>Physical Domains: Transport and Warehouses</vt:lpstr>
      <vt:lpstr>Humanoid and Dexterous Robots as MAS</vt:lpstr>
      <vt:lpstr>Satellite Constellations and Swarms</vt:lpstr>
      <vt:lpstr>LLM‑Based Multi‑Agent Systems</vt:lpstr>
      <vt:lpstr>Lessons for LLM Agent Engineering</vt:lpstr>
      <vt:lpstr>Future Directions and My Takeaways</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Rutuja Patil</dc:creator>
  <cp:keywords/>
  <dc:description>generated using python-pptx</dc:description>
  <cp:lastModifiedBy>Rutuja Patil</cp:lastModifiedBy>
  <cp:revision>3</cp:revision>
  <dcterms:created xsi:type="dcterms:W3CDTF">2013-01-27T09:14:16Z</dcterms:created>
  <dcterms:modified xsi:type="dcterms:W3CDTF">2025-12-07T08:05:20Z</dcterms:modified>
  <cp:category/>
</cp:coreProperties>
</file>